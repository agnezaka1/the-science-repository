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400" r:id="rId2"/>
    <p:sldId id="401" r:id="rId3"/>
    <p:sldId id="402" r:id="rId4"/>
    <p:sldId id="482" r:id="rId5"/>
    <p:sldId id="486" r:id="rId6"/>
    <p:sldId id="485" r:id="rId7"/>
    <p:sldId id="484" r:id="rId8"/>
    <p:sldId id="445" r:id="rId9"/>
    <p:sldId id="483" r:id="rId10"/>
  </p:sldIdLst>
  <p:sldSz cx="9144000" cy="5143500" type="screen16x9"/>
  <p:notesSz cx="6858000" cy="9144000"/>
  <p:embeddedFontLst>
    <p:embeddedFont>
      <p:font typeface="Barlow Semi Condensed" pitchFamily="2" charset="77"/>
      <p:regular r:id="rId12"/>
      <p:bold r:id="rId13"/>
      <p:italic r:id="rId14"/>
      <p:boldItalic r:id="rId15"/>
    </p:embeddedFont>
    <p:embeddedFont>
      <p:font typeface="Barlow Semi Condensed Medium" pitchFamily="2" charset="77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Montserrat" pitchFamily="2" charset="77"/>
      <p:regular r:id="rId24"/>
      <p:bold r:id="rId25"/>
      <p:italic r:id="rId26"/>
      <p:boldItalic r:id="rId27"/>
    </p:embeddedFont>
    <p:embeddedFont>
      <p:font typeface="Montserrat Light" pitchFamily="2" charset="77"/>
      <p:regular r:id="rId28"/>
      <p:italic r:id="rId29"/>
    </p:embeddedFont>
    <p:embeddedFont>
      <p:font typeface="Montserrat Medium" pitchFamily="2" charset="77"/>
      <p:regular r:id="rId30"/>
      <p:italic r:id="rId31"/>
    </p:embeddedFont>
    <p:embeddedFont>
      <p:font typeface="Montserrat SemiBold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5F6"/>
    <a:srgbClr val="F4FBFB"/>
    <a:srgbClr val="E5EEEF"/>
    <a:srgbClr val="EDF3F3"/>
    <a:srgbClr val="009051"/>
    <a:srgbClr val="CDC9C6"/>
    <a:srgbClr val="FFE5E5"/>
    <a:srgbClr val="FFBDBD"/>
    <a:srgbClr val="FFD5D5"/>
    <a:srgbClr val="EE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D5AB1-EDAE-49F7-95AD-5C3D3AD60792}">
  <a:tblStyle styleId="{511D5AB1-EDAE-49F7-95AD-5C3D3AD607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/>
    <p:restoredTop sz="94726"/>
  </p:normalViewPr>
  <p:slideViewPr>
    <p:cSldViewPr snapToGrid="0">
      <p:cViewPr varScale="1">
        <p:scale>
          <a:sx n="154" d="100"/>
          <a:sy n="154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tableStyles" Target="tableStyles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31fce6b6_0_6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231fce6b6_0_6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Main message: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Over the next three days, we will build one reproducible research project from the ground up.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Speaker note: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Today is not about becoming an R expert. Today is about understanding the set-up and structure: what R is, what RStudio does, how projects are structured, why GitHub matters, and how to avoid the most common traps.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5aaaac0d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5aaaac0d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Speaker note: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Everything today prepares the ground for the analysis and reporting work later. If the scaffolding is clear, the analysis becomes much easier to understand and debug.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Without scaffolding:</a:t>
            </a:r>
            <a:br>
              <a:rPr lang="en" dirty="0"/>
            </a:br>
            <a:r>
              <a:rPr lang="en" dirty="0"/>
              <a:t> “Where is my file?”</a:t>
            </a:r>
            <a:br>
              <a:rPr lang="en" dirty="0"/>
            </a:br>
            <a:r>
              <a:rPr lang="en" dirty="0"/>
              <a:t> “Which script did I run?”</a:t>
            </a:r>
            <a:br>
              <a:rPr lang="en" dirty="0"/>
            </a:br>
            <a:r>
              <a:rPr lang="en" dirty="0"/>
              <a:t> “Which version is correct?”</a:t>
            </a:r>
            <a:br>
              <a:rPr lang="en" dirty="0"/>
            </a:br>
            <a:r>
              <a:rPr lang="en" dirty="0"/>
              <a:t> “Why does it work on your laptop but not mine?”</a:t>
            </a:r>
            <a:br>
              <a:rPr lang="en" dirty="0"/>
            </a:br>
            <a:r>
              <a:rPr lang="en" dirty="0"/>
              <a:t> “Can I safely share this?”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With scaffolding:</a:t>
            </a:r>
            <a:br>
              <a:rPr lang="en" dirty="0"/>
            </a:br>
            <a:r>
              <a:rPr lang="en" dirty="0"/>
              <a:t> Files have a place.</a:t>
            </a:r>
            <a:br>
              <a:rPr lang="en" dirty="0"/>
            </a:br>
            <a:r>
              <a:rPr lang="en" dirty="0"/>
              <a:t> Scripts have an order.</a:t>
            </a:r>
            <a:br>
              <a:rPr lang="en" dirty="0"/>
            </a:br>
            <a:r>
              <a:rPr lang="en" dirty="0"/>
              <a:t> Outputs can be recreated.</a:t>
            </a:r>
            <a:br>
              <a:rPr lang="en" dirty="0"/>
            </a:br>
            <a:r>
              <a:rPr lang="en" dirty="0"/>
              <a:t> Changes are documented.</a:t>
            </a:r>
            <a:br>
              <a:rPr lang="en" dirty="0"/>
            </a:br>
            <a:r>
              <a:rPr lang="en" dirty="0"/>
              <a:t> Collaboration becomes possible.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64A2-7DF1-01D9-218F-A4D0AA1F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0AAC8-41DE-1894-DEA3-5DF5D98D5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4785-6340-68C6-D146-F8C56F28B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F1372-795B-E419-D937-B1F46B1D8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26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398C-B35B-09FD-9E8D-D60591E2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78227-5A3B-989F-9CEA-07F17D9CD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EDB57-639F-4A49-DE12-79E2AC46C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are two separate installs. We install both. We are *not* learning R syntax today — that's Day 2. Today we just need it working.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196E9-CF80-7EDA-3DC0-C6A9513B5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FFCE-EBA9-3603-64F7-B3312DD5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A2516-8339-E4B5-3FE5-314DCDDC3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86D39-B3CF-43C1-74E5-4A3DC507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are two separate installs. We install both. We are *not* learning R syntax today — that's Day 2. Today we just need it working.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DFBFC-74C5-073F-003A-403EC5372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87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is the "Publisher" box — the cook that follows the recipe. The key idea: your figures and tables are *not* pasted in — they're generated when the document renders, straight from the `R/` engine. No copy-paste, no stale numbers. On the "why Quarto": if people know R Markdown, Quarto is the same idea grown up — one tool for many languages and many output formats, still free and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80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 Workshop TDFC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854275" y="1181375"/>
            <a:ext cx="6750900" cy="207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sz="41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854276" y="3185525"/>
            <a:ext cx="67509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ntserrat SemiBold"/>
              <a:buNone/>
              <a:defRPr sz="2800">
                <a:solidFill>
                  <a:schemeClr val="accent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12" name="Google Shape;12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00"/>
              <a:buFont typeface="Montserrat"/>
              <a:buNone/>
              <a:defRPr sz="91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971800" y="328748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Text 1">
  <p:cSld name="TITLE_AND_BODY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518550" y="1400075"/>
            <a:ext cx="8106900" cy="3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23000" y="516550"/>
            <a:ext cx="7908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523000" y="943363"/>
            <a:ext cx="7908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Montserrat"/>
              <a:buNone/>
              <a:defRPr sz="17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41" name="Google Shape;41;p9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617125" y="630521"/>
            <a:ext cx="77004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2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2" name="Google Shape;52;p12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5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70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031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947275" y="1456200"/>
            <a:ext cx="2615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436158" y="644281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1436158" y="927745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3"/>
          </p:nvPr>
        </p:nvSpPr>
        <p:spPr>
          <a:xfrm>
            <a:off x="1436158" y="172327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4"/>
          </p:nvPr>
        </p:nvSpPr>
        <p:spPr>
          <a:xfrm>
            <a:off x="1436158" y="2006737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5"/>
          </p:nvPr>
        </p:nvSpPr>
        <p:spPr>
          <a:xfrm>
            <a:off x="1436158" y="2802265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6"/>
          </p:nvPr>
        </p:nvSpPr>
        <p:spPr>
          <a:xfrm>
            <a:off x="1436158" y="3085729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7"/>
          </p:nvPr>
        </p:nvSpPr>
        <p:spPr>
          <a:xfrm>
            <a:off x="1436158" y="3881257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8"/>
          </p:nvPr>
        </p:nvSpPr>
        <p:spPr>
          <a:xfrm>
            <a:off x="1436158" y="4164721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9" hasCustomPrompt="1"/>
          </p:nvPr>
        </p:nvSpPr>
        <p:spPr>
          <a:xfrm>
            <a:off x="840641" y="77956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 idx="13" hasCustomPrompt="1"/>
          </p:nvPr>
        </p:nvSpPr>
        <p:spPr>
          <a:xfrm>
            <a:off x="840641" y="185855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14" hasCustomPrompt="1"/>
          </p:nvPr>
        </p:nvSpPr>
        <p:spPr>
          <a:xfrm>
            <a:off x="840641" y="293754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 idx="15" hasCustomPrompt="1"/>
          </p:nvPr>
        </p:nvSpPr>
        <p:spPr>
          <a:xfrm>
            <a:off x="840641" y="401654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630525" y="633475"/>
            <a:ext cx="7070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3694176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2"/>
          </p:nvPr>
        </p:nvSpPr>
        <p:spPr>
          <a:xfrm>
            <a:off x="1024128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3"/>
          </p:nvPr>
        </p:nvSpPr>
        <p:spPr>
          <a:xfrm>
            <a:off x="6355080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643100" y="643600"/>
            <a:ext cx="76476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1718550" y="522150"/>
            <a:ext cx="57069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3753615" y="241987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5"/>
          </p:nvPr>
        </p:nvSpPr>
        <p:spPr>
          <a:xfrm>
            <a:off x="3753615" y="2775893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815150" y="518140"/>
            <a:ext cx="55137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1522425" y="1874369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2"/>
          </p:nvPr>
        </p:nvSpPr>
        <p:spPr>
          <a:xfrm>
            <a:off x="1522425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3"/>
          </p:nvPr>
        </p:nvSpPr>
        <p:spPr>
          <a:xfrm>
            <a:off x="3689552" y="1874369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4"/>
          </p:nvPr>
        </p:nvSpPr>
        <p:spPr>
          <a:xfrm>
            <a:off x="3689552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5"/>
          </p:nvPr>
        </p:nvSpPr>
        <p:spPr>
          <a:xfrm>
            <a:off x="5856675" y="1874369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6"/>
          </p:nvPr>
        </p:nvSpPr>
        <p:spPr>
          <a:xfrm>
            <a:off x="5856675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7"/>
          </p:nvPr>
        </p:nvSpPr>
        <p:spPr>
          <a:xfrm>
            <a:off x="1522425" y="3501991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8"/>
          </p:nvPr>
        </p:nvSpPr>
        <p:spPr>
          <a:xfrm>
            <a:off x="1522425" y="3842050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9"/>
          </p:nvPr>
        </p:nvSpPr>
        <p:spPr>
          <a:xfrm>
            <a:off x="3597450" y="3501994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3"/>
          </p:nvPr>
        </p:nvSpPr>
        <p:spPr>
          <a:xfrm>
            <a:off x="3597500" y="3842050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14"/>
          </p:nvPr>
        </p:nvSpPr>
        <p:spPr>
          <a:xfrm>
            <a:off x="5856675" y="3501991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15"/>
          </p:nvPr>
        </p:nvSpPr>
        <p:spPr>
          <a:xfrm>
            <a:off x="5856675" y="3842050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1006350" y="338325"/>
            <a:ext cx="75036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006350" y="1538125"/>
            <a:ext cx="45333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2"/>
          </p:nvPr>
        </p:nvSpPr>
        <p:spPr>
          <a:xfrm>
            <a:off x="1006350" y="2212188"/>
            <a:ext cx="4232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36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23247" y="263128"/>
            <a:ext cx="8774345" cy="4085918"/>
            <a:chOff x="261711" y="-1158"/>
            <a:chExt cx="8550326" cy="3981600"/>
          </a:xfrm>
        </p:grpSpPr>
        <p:cxnSp>
          <p:nvCxnSpPr>
            <p:cNvPr id="130" name="Google Shape;130;p22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7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22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7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2" name="Google Shape;132;p22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33" name="Google Shape;133;p2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22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38" name="Google Shape;138;p2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42;p22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3" name="Google Shape;143;p2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" name="Google Shape;149;p22"/>
          <p:cNvSpPr txBox="1">
            <a:spLocks noGrp="1"/>
          </p:cNvSpPr>
          <p:nvPr>
            <p:ph type="subTitle" idx="3"/>
          </p:nvPr>
        </p:nvSpPr>
        <p:spPr>
          <a:xfrm>
            <a:off x="1006350" y="2927805"/>
            <a:ext cx="4533300" cy="624600"/>
          </a:xfrm>
          <a:prstGeom prst="rect">
            <a:avLst/>
          </a:prstGeom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4"/>
          </p:nvPr>
        </p:nvSpPr>
        <p:spPr>
          <a:xfrm>
            <a:off x="1006350" y="3601868"/>
            <a:ext cx="4232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36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431725" y="342775"/>
            <a:ext cx="65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3"/>
          </p:nvPr>
        </p:nvSpPr>
        <p:spPr>
          <a:xfrm>
            <a:off x="1075800" y="2069375"/>
            <a:ext cx="24264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714655" y="338325"/>
            <a:ext cx="5905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Medium"/>
              <a:buAutoNum type="arabicPeriod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rabi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rabi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69" name="Google Shape;169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32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77" name="Google Shape;177;p32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32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234F-C48F-F142-99B3-8531954F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82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3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10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03C46"/>
              </a:buClr>
              <a:buSzPts val="3100"/>
              <a:buFont typeface="Montserrat SemiBold"/>
              <a:buNone/>
              <a:defRPr sz="3100">
                <a:solidFill>
                  <a:srgbClr val="103C4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84" r:id="rId10"/>
    <p:sldLayoutId id="2147483685" r:id="rId11"/>
    <p:sldLayoutId id="2147483686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3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ctrTitle"/>
          </p:nvPr>
        </p:nvSpPr>
        <p:spPr>
          <a:xfrm>
            <a:off x="854275" y="496375"/>
            <a:ext cx="7369500" cy="2764200"/>
          </a:xfrm>
          <a:prstGeom prst="rect">
            <a:avLst/>
          </a:prstGeom>
        </p:spPr>
        <p:txBody>
          <a:bodyPr spcFirstLastPara="1" wrap="square" lIns="108175" tIns="108175" rIns="108175" bIns="1081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103C46"/>
                </a:solidFill>
              </a:rPr>
              <a:t>Consumer</a:t>
            </a:r>
            <a:r>
              <a:rPr lang="en-US" sz="4800" dirty="0"/>
              <a:t> </a:t>
            </a:r>
            <a:r>
              <a:rPr lang="en-US" sz="4800" dirty="0">
                <a:solidFill>
                  <a:srgbClr val="103C46"/>
                </a:solidFill>
              </a:rPr>
              <a:t>Decision-Making Analysis in R</a:t>
            </a:r>
          </a:p>
        </p:txBody>
      </p:sp>
      <p:sp>
        <p:nvSpPr>
          <p:cNvPr id="194" name="Google Shape;194;p36"/>
          <p:cNvSpPr txBox="1">
            <a:spLocks noGrp="1"/>
          </p:cNvSpPr>
          <p:nvPr>
            <p:ph type="subTitle" idx="1"/>
          </p:nvPr>
        </p:nvSpPr>
        <p:spPr>
          <a:xfrm>
            <a:off x="854276" y="3185525"/>
            <a:ext cx="6750900" cy="896100"/>
          </a:xfrm>
          <a:prstGeom prst="rect">
            <a:avLst/>
          </a:prstGeom>
        </p:spPr>
        <p:txBody>
          <a:bodyPr spcFirstLastPara="1" wrap="square" lIns="108175" tIns="108175" rIns="108175" bIns="10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1" dirty="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Reproducible, Collaborative, and AI-Aware Workflows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subTitle" idx="1"/>
          </p:nvPr>
        </p:nvSpPr>
        <p:spPr>
          <a:xfrm>
            <a:off x="1037100" y="1519363"/>
            <a:ext cx="8106900" cy="32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 lvl="0" indent="-3429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1: The scaffold </a:t>
            </a:r>
            <a:endParaRPr sz="2300" dirty="0"/>
          </a:p>
          <a:p>
            <a:pPr marL="4318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2: R and data analysis</a:t>
            </a:r>
            <a:endParaRPr sz="2300" dirty="0"/>
          </a:p>
          <a:p>
            <a:pPr marL="4318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3: Producing a report + Supercharge</a:t>
            </a:r>
            <a:endParaRPr sz="2300" dirty="0"/>
          </a:p>
        </p:txBody>
      </p:sp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523000" y="516550"/>
            <a:ext cx="7908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subTitle" idx="2"/>
          </p:nvPr>
        </p:nvSpPr>
        <p:spPr>
          <a:xfrm>
            <a:off x="523000" y="943363"/>
            <a:ext cx="7908000" cy="2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the workshop</a:t>
            </a:r>
            <a:endParaRPr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5AB22936-4FB6-83A9-D182-6937A457F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070" y="2111080"/>
            <a:ext cx="133248" cy="133248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1718550" y="431118"/>
            <a:ext cx="57069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The three-day roadmap</a:t>
            </a:r>
            <a:endParaRPr dirty="0"/>
          </a:p>
        </p:txBody>
      </p:sp>
      <p:sp>
        <p:nvSpPr>
          <p:cNvPr id="214" name="Google Shape;214;p39"/>
          <p:cNvSpPr txBox="1">
            <a:spLocks noGrp="1"/>
          </p:cNvSpPr>
          <p:nvPr>
            <p:ph type="subTitle" idx="3"/>
          </p:nvPr>
        </p:nvSpPr>
        <p:spPr>
          <a:xfrm>
            <a:off x="677638" y="1456315"/>
            <a:ext cx="2613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Day 1: Scaffold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6"/>
          </p:nvPr>
        </p:nvSpPr>
        <p:spPr>
          <a:xfrm>
            <a:off x="677638" y="1954665"/>
            <a:ext cx="2613000" cy="2037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</a:t>
            </a:r>
            <a:r>
              <a:rPr lang="en-GB" dirty="0"/>
              <a:t>s</a:t>
            </a:r>
            <a:r>
              <a:rPr lang="en" dirty="0" err="1"/>
              <a:t>tudio</a:t>
            </a:r>
            <a:endParaRPr lang="en" dirty="0"/>
          </a:p>
          <a:p>
            <a:pPr marL="457200" indent="-317500" algn="l">
              <a:lnSpc>
                <a:spcPct val="115000"/>
              </a:lnSpc>
              <a:buSzPts val="1400"/>
              <a:buFont typeface="Arial"/>
              <a:buChar char="●"/>
            </a:pPr>
            <a:r>
              <a:rPr lang="en-GB" dirty="0"/>
              <a:t>Git/GitHub basics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Folders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Data protection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Quarto</a:t>
            </a:r>
            <a:endParaRPr dirty="0"/>
          </a:p>
        </p:txBody>
      </p:sp>
      <p:sp>
        <p:nvSpPr>
          <p:cNvPr id="216" name="Google Shape;216;p39"/>
          <p:cNvSpPr txBox="1">
            <a:spLocks noGrp="1"/>
          </p:cNvSpPr>
          <p:nvPr>
            <p:ph type="subTitle" idx="3"/>
          </p:nvPr>
        </p:nvSpPr>
        <p:spPr>
          <a:xfrm>
            <a:off x="3445880" y="1456315"/>
            <a:ext cx="2613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Day 2: Analyse </a:t>
            </a:r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subTitle" idx="6"/>
          </p:nvPr>
        </p:nvSpPr>
        <p:spPr>
          <a:xfrm>
            <a:off x="3445880" y="1954665"/>
            <a:ext cx="2613000" cy="26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Base R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Import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Clean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Transform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Visualise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Describe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Model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Moderate / mediate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Collaborate</a:t>
            </a:r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ubTitle" idx="3"/>
          </p:nvPr>
        </p:nvSpPr>
        <p:spPr>
          <a:xfrm>
            <a:off x="6214123" y="1456315"/>
            <a:ext cx="2613000" cy="657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Day 3: Publish</a:t>
            </a:r>
            <a:endParaRPr dirty="0"/>
          </a:p>
        </p:txBody>
      </p:sp>
      <p:sp>
        <p:nvSpPr>
          <p:cNvPr id="219" name="Google Shape;219;p39"/>
          <p:cNvSpPr txBox="1">
            <a:spLocks noGrp="1"/>
          </p:cNvSpPr>
          <p:nvPr>
            <p:ph type="subTitle" idx="6"/>
          </p:nvPr>
        </p:nvSpPr>
        <p:spPr>
          <a:xfrm>
            <a:off x="6214123" y="1954665"/>
            <a:ext cx="26130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Export tables and figures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methods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results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Static/ Annotated/ interactive report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AI-use statement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Reproducibility check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E859B-C973-BB82-FAC6-2E562233FFD5}"/>
              </a:ext>
            </a:extLst>
          </p:cNvPr>
          <p:cNvSpPr/>
          <p:nvPr/>
        </p:nvSpPr>
        <p:spPr>
          <a:xfrm>
            <a:off x="677638" y="1650124"/>
            <a:ext cx="2286279" cy="2341992"/>
          </a:xfrm>
          <a:prstGeom prst="rect">
            <a:avLst/>
          </a:prstGeom>
          <a:gradFill>
            <a:gsLst>
              <a:gs pos="0">
                <a:srgbClr val="F4FBFB">
                  <a:alpha val="57873"/>
                </a:srgbClr>
              </a:gs>
              <a:gs pos="100000">
                <a:srgbClr val="ECF5F6">
                  <a:alpha val="58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0379-E7C3-1C7D-1F6D-07B4789F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78A8-390F-56E9-227C-324500C0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064" y="2375742"/>
            <a:ext cx="3325872" cy="804600"/>
          </a:xfrm>
        </p:spPr>
        <p:txBody>
          <a:bodyPr/>
          <a:lstStyle/>
          <a:p>
            <a:r>
              <a:rPr lang="en-US" dirty="0"/>
              <a:t>R &amp; Data Analysis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219BA7-B964-803A-7F0E-29E64A875A67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747975" y="1415777"/>
            <a:ext cx="3648050" cy="1069800"/>
          </a:xfrm>
        </p:spPr>
        <p:txBody>
          <a:bodyPr/>
          <a:lstStyle/>
          <a:p>
            <a:r>
              <a:rPr lang="en-US" dirty="0"/>
              <a:t>Day 2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05F79DD-77DD-F928-2F7F-AA7CF082B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903" y="3035736"/>
            <a:ext cx="3200400" cy="685800"/>
          </a:xfrm>
        </p:spPr>
        <p:txBody>
          <a:bodyPr/>
          <a:lstStyle/>
          <a:p>
            <a:r>
              <a:rPr lang="en-US" dirty="0"/>
              <a:t>The How</a:t>
            </a:r>
          </a:p>
        </p:txBody>
      </p:sp>
    </p:spTree>
    <p:extLst>
      <p:ext uri="{BB962C8B-B14F-4D97-AF65-F5344CB8AC3E}">
        <p14:creationId xmlns:p14="http://schemas.microsoft.com/office/powerpoint/2010/main" val="1739042231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B8BC-FA0E-8698-0200-8FA62A3E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F0360-E3BF-F01F-E6B3-BF7AA047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1409700"/>
            <a:ext cx="54483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01205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BC37-E01D-71CD-25F0-0DABCADA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02BFD9-C69F-589E-BBD3-A03AE81426D9}"/>
              </a:ext>
            </a:extLst>
          </p:cNvPr>
          <p:cNvSpPr txBox="1"/>
          <p:nvPr/>
        </p:nvSpPr>
        <p:spPr>
          <a:xfrm>
            <a:off x="32013" y="627251"/>
            <a:ext cx="1539048" cy="72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you write and save scripts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7C9F1-CE31-0D60-669B-80E0FEDA37A0}"/>
              </a:ext>
            </a:extLst>
          </p:cNvPr>
          <p:cNvSpPr txBox="1"/>
          <p:nvPr/>
        </p:nvSpPr>
        <p:spPr>
          <a:xfrm>
            <a:off x="281964" y="2801350"/>
            <a:ext cx="1289097" cy="72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 runs R commands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18D77-2733-9B5E-A69D-1F7DF86E3BE7}"/>
              </a:ext>
            </a:extLst>
          </p:cNvPr>
          <p:cNvSpPr txBox="1"/>
          <p:nvPr/>
        </p:nvSpPr>
        <p:spPr>
          <a:xfrm>
            <a:off x="7768882" y="988952"/>
            <a:ext cx="1343105" cy="72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objects in memory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357EB3-F542-AB43-D60A-5ADB25D9232F}"/>
              </a:ext>
            </a:extLst>
          </p:cNvPr>
          <p:cNvSpPr txBox="1"/>
          <p:nvPr/>
        </p:nvSpPr>
        <p:spPr>
          <a:xfrm>
            <a:off x="7702350" y="2531499"/>
            <a:ext cx="1547213" cy="116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Files/Plots/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Packages/Help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 files, see figures, read docs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20F441-D09D-9972-66A0-5C9BDCAC9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588" y="858286"/>
            <a:ext cx="6189150" cy="3886127"/>
          </a:xfrm>
          <a:prstGeom prst="rect">
            <a:avLst/>
          </a:prstGeom>
          <a:ln>
            <a:noFill/>
          </a:ln>
          <a:effectLst>
            <a:outerShdw blurRad="138025" dist="63500" dir="2700000" algn="tl" rotWithShape="0">
              <a:prstClr val="black">
                <a:alpha val="24767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3949294"/>
      </p:ext>
    </p:extLst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4010-E12C-79DA-BB5C-EBAEAE38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5D615B2-ECD3-B6DF-197A-97057320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588" y="858286"/>
            <a:ext cx="6189150" cy="3886127"/>
          </a:xfrm>
          <a:prstGeom prst="rect">
            <a:avLst/>
          </a:prstGeom>
          <a:ln>
            <a:noFill/>
          </a:ln>
          <a:effectLst>
            <a:outerShdw blurRad="138025" dist="63500" dir="2700000" algn="tl" rotWithShape="0">
              <a:prstClr val="black">
                <a:alpha val="24767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C298B0-AA9B-B508-7F32-296C9870C84D}"/>
              </a:ext>
            </a:extLst>
          </p:cNvPr>
          <p:cNvSpPr txBox="1"/>
          <p:nvPr/>
        </p:nvSpPr>
        <p:spPr>
          <a:xfrm>
            <a:off x="7905988" y="488311"/>
            <a:ext cx="1323073" cy="960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project setup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.</a:t>
            </a:r>
            <a:r>
              <a:rPr lang="en-US" sz="1200" dirty="0" err="1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</a:t>
            </a: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settings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DDCC1-61E2-3E48-EBC7-FE93E4E324AE}"/>
              </a:ext>
            </a:extLst>
          </p:cNvPr>
          <p:cNvSpPr txBox="1"/>
          <p:nvPr/>
        </p:nvSpPr>
        <p:spPr>
          <a:xfrm>
            <a:off x="5396340" y="126609"/>
            <a:ext cx="1770004" cy="72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Git/GitHub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cs typeface="Consolas" pitchFamily="34" charset="-120"/>
              </a:rPr>
              <a:t>see your changed and history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A295C7-9270-C866-5791-9A9DE37761BF}"/>
              </a:ext>
            </a:extLst>
          </p:cNvPr>
          <p:cNvSpPr txBox="1"/>
          <p:nvPr/>
        </p:nvSpPr>
        <p:spPr>
          <a:xfrm>
            <a:off x="63798" y="3280364"/>
            <a:ext cx="1648047" cy="1129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computer's command line, `quarto render` command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8D5950-33A4-49C8-64FE-2C9B55CCC618}"/>
              </a:ext>
            </a:extLst>
          </p:cNvPr>
          <p:cNvCxnSpPr>
            <a:cxnSpLocks/>
          </p:cNvCxnSpPr>
          <p:nvPr/>
        </p:nvCxnSpPr>
        <p:spPr>
          <a:xfrm>
            <a:off x="6443330" y="761171"/>
            <a:ext cx="265814" cy="33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447258-3ADA-DC85-7A2F-B13730E608C6}"/>
              </a:ext>
            </a:extLst>
          </p:cNvPr>
          <p:cNvCxnSpPr>
            <a:cxnSpLocks/>
          </p:cNvCxnSpPr>
          <p:nvPr/>
        </p:nvCxnSpPr>
        <p:spPr>
          <a:xfrm flipH="1">
            <a:off x="7562338" y="687158"/>
            <a:ext cx="343650" cy="28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7E1790-BDE5-AFD2-AFF9-A22A88C8D843}"/>
              </a:ext>
            </a:extLst>
          </p:cNvPr>
          <p:cNvCxnSpPr>
            <a:cxnSpLocks/>
          </p:cNvCxnSpPr>
          <p:nvPr/>
        </p:nvCxnSpPr>
        <p:spPr>
          <a:xfrm flipV="1">
            <a:off x="1068388" y="3280364"/>
            <a:ext cx="748325" cy="175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7A8312-2959-3C95-75C4-56E065AA0D11}"/>
              </a:ext>
            </a:extLst>
          </p:cNvPr>
          <p:cNvSpPr txBox="1"/>
          <p:nvPr/>
        </p:nvSpPr>
        <p:spPr>
          <a:xfrm>
            <a:off x="7820927" y="2847701"/>
            <a:ext cx="1323073" cy="52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Packages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packages</a:t>
            </a:r>
            <a:endParaRPr lang="en-US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9C511F-D0DE-56D4-2EFC-75F2DA0BA1E7}"/>
              </a:ext>
            </a:extLst>
          </p:cNvPr>
          <p:cNvCxnSpPr>
            <a:cxnSpLocks/>
          </p:cNvCxnSpPr>
          <p:nvPr/>
        </p:nvCxnSpPr>
        <p:spPr>
          <a:xfrm flipH="1" flipV="1">
            <a:off x="6443330" y="2536666"/>
            <a:ext cx="1377597" cy="437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52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409" y="522559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Quarto = prose + code → polished output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2416" y="1644957"/>
            <a:ext cx="7040880" cy="239877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042416" y="1644957"/>
            <a:ext cx="50292" cy="239877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225296" y="1754685"/>
            <a:ext cx="6858000" cy="2179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.qmd file mixes: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text (Markdown)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 code chunks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the results those chunks produce (tables, figures, numbers)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runs the code and weaves results into the finished document.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Quarto (and not R Markdown)?  Quarto is R Markdown's successor: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one engine for R, Python, and Julia (not R-only)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one source → HTML, PDF, Word, slides, whole websites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actively developed, batteries included (citations, cross-references)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343881"/>
      </p:ext>
    </p:extLst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152A-AE65-45AA-5897-87443C5B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EBD6-6FED-2959-F04D-EE1FCE5F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592" y="2306990"/>
            <a:ext cx="3325872" cy="804600"/>
          </a:xfrm>
        </p:spPr>
        <p:txBody>
          <a:bodyPr/>
          <a:lstStyle/>
          <a:p>
            <a:r>
              <a:rPr lang="en-US" dirty="0"/>
              <a:t>The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375524-0E42-28C1-140B-8138880E71B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747975" y="1415777"/>
            <a:ext cx="3648050" cy="1069800"/>
          </a:xfrm>
        </p:spPr>
        <p:txBody>
          <a:bodyPr/>
          <a:lstStyle/>
          <a:p>
            <a:r>
              <a:rPr lang="en-US" dirty="0"/>
              <a:t>Day 3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4AB1DB8-EF71-9D4C-4F8C-D242170D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064" y="3049486"/>
            <a:ext cx="3200400" cy="685800"/>
          </a:xfrm>
        </p:spPr>
        <p:txBody>
          <a:bodyPr/>
          <a:lstStyle/>
          <a:p>
            <a:r>
              <a:rPr lang="en-US" dirty="0"/>
              <a:t>Efficient Ins and Outs</a:t>
            </a:r>
          </a:p>
        </p:txBody>
      </p:sp>
    </p:spTree>
    <p:extLst>
      <p:ext uri="{BB962C8B-B14F-4D97-AF65-F5344CB8AC3E}">
        <p14:creationId xmlns:p14="http://schemas.microsoft.com/office/powerpoint/2010/main" val="1620207248"/>
      </p:ext>
    </p:extLst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R Workshop TDFC">
  <a:themeElements>
    <a:clrScheme name="Simple Light">
      <a:dk1>
        <a:srgbClr val="103C46"/>
      </a:dk1>
      <a:lt1>
        <a:srgbClr val="FFFFFF"/>
      </a:lt1>
      <a:dk2>
        <a:srgbClr val="494949"/>
      </a:dk2>
      <a:lt2>
        <a:srgbClr val="EEEEEE"/>
      </a:lt2>
      <a:accent1>
        <a:srgbClr val="82C0CC"/>
      </a:accent1>
      <a:accent2>
        <a:srgbClr val="FF8C2B"/>
      </a:accent2>
      <a:accent3>
        <a:srgbClr val="CDECF1"/>
      </a:accent3>
      <a:accent4>
        <a:srgbClr val="BEBEBE"/>
      </a:accent4>
      <a:accent5>
        <a:srgbClr val="2584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633</Words>
  <Application>Microsoft Macintosh PowerPoint</Application>
  <PresentationFormat>On-screen Show (16:9)</PresentationFormat>
  <Paragraphs>79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Barlow Semi Condensed Medium</vt:lpstr>
      <vt:lpstr>Barlow Semi Condensed</vt:lpstr>
      <vt:lpstr>Consolas</vt:lpstr>
      <vt:lpstr>Montserrat Light</vt:lpstr>
      <vt:lpstr>Wingdings</vt:lpstr>
      <vt:lpstr>Montserrat SemiBold</vt:lpstr>
      <vt:lpstr>Montserrat Medium</vt:lpstr>
      <vt:lpstr>Montserrat</vt:lpstr>
      <vt:lpstr>R Workshop TDFC</vt:lpstr>
      <vt:lpstr>Consumer Decision-Making Analysis in R</vt:lpstr>
      <vt:lpstr>Overview</vt:lpstr>
      <vt:lpstr>The three-day roadmap</vt:lpstr>
      <vt:lpstr>R &amp; Data Analysis</vt:lpstr>
      <vt:lpstr>PowerPoint Presentation</vt:lpstr>
      <vt:lpstr>PowerPoint Presentation</vt:lpstr>
      <vt:lpstr>PowerPoint Presentation</vt:lpstr>
      <vt:lpstr>PowerPoint Presentation</vt:lpstr>
      <vt:lpstr>The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Jannis Kreienkamp</cp:lastModifiedBy>
  <cp:revision>56</cp:revision>
  <dcterms:modified xsi:type="dcterms:W3CDTF">2026-06-01T22:02:50Z</dcterms:modified>
</cp:coreProperties>
</file>