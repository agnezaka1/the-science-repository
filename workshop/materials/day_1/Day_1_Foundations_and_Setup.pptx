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5"/>
    <p:restoredTop sz="88668"/>
  </p:normalViewPr>
  <p:slideViewPr>
    <p:cSldViewPr snapToGrid="0" snapToObjects="1">
      <p:cViewPr varScale="1">
        <p:scale>
          <a:sx n="135" d="100"/>
          <a:sy n="135" d="100"/>
        </p:scale>
        <p:origin x="7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621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is not about writing R. Today is about understanding the *system* — what each tool does and how they fit together — and getting it all installed. If your setup works at the end of today, Days 2 and 3 will be smooth. We've often learned that setting everything up is one of the hardest steps, so we are spending a day together on this to get everything up and running. Because the set-up is what even the best LLMs and AI methods cannot help you with (as long as you do not want to give them full control of your computer). Also understanding is important! It helps a lot in judging output and not feeling overwhelmed!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show of hands per word. The point is to lower anxiety: this exact list is what we will have ticked off by 16:30. We will return to it as the end-of-day checklist, so it doubles as the promise and the proof.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scope up front lowers anxiety and frames the whole day. Keeping scope tight is intentional — if your setup works by the end of today, you're exactly where you need to be. Everything on the right is parked for a specific later slot, not forgotten. We'll come back to this list tomorrow morning.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diagram visible all day. Every time we install something, point back to its box. The center is RStudio; everything else feeds into or out of it. (Presenter: Jannis — intro slides 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behind the whole day. Closed tools (SPSS, Word) cost money and can lock your work in a format only they can open — and they can silently change it under you. Open tools are free, have huge communities (so the error you hit is already answered somewhere online), and the files are plain text you fully own. We'll repeat this "why" briefly each time we meet a new tool, rather than re-arguing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through-line for the day — keep coming back to it. The repo is a kitchen. Today we mostly *stock the pantry* and *check the appliances work*; we actually *cook* on Day 2. The one idea to plant now: you write the recipe once and prepare the sauce (the numbers) once in the kitchen — then several dishes (website, paper) are plated from that same sauce. Nothing is re-chopped by hand for each dish.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idea of the repo. `R/` is the source of truth for the numbers; `reports/` are just different ways to use and present them; `renders/` are the built products. Change a function in `R/` and both the website and the paper update on the next render. We'll see each folder today.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folder has its own README — think of it as a label on each shelf. The top-level README is the front door to the kitchen. We are *not* memorising this — we're building intuition for where things belong, anchored to the kitchen we just introduced. Point back to the pantry/recipe/dish mapping as you go.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tone *before* the first hands-on step. The single biggest predictor of a smooth day is whether people panic at red text or read it. Normalise it loudly. Most messages name exactly what's wrong — a missing file, a wrong path, a function that isn't loaded. Teach the reflex: read → recall last action → search the exact text → ask. Most red text in the console or terminal is one of a handful of usual suspects; there's a full reference at the very end of today, and the ⚠ boxes on each exercise pre-empt the common ones.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is not just a cloud drive. It remembers *every* version, who changed what, and lets several people work on the same project without overwriting each other. That history is what makes research auditable. In kitchen terms: it's a photo of the dish at every step, plus the way you hand the recipe to another cook.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worry about memorising. Today you'll *fork* once, then *stage*, *commit*, and *push* small changes. Branches and merges become real on Day 2 when you collaborate in pairs. Staging tip — especially useful with AI: stage your changes *before* you ask an LLM to review or before you accept its edits, then look at the diff of what's staged. Staging makes "what exactly changed?" an explicit, reviewable step rather than a leap of faith.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anyone already has an account, great — just log in. Check out the GitHub *Student/Education* benefits here (free Pro features, private Pages) — worth applying for with a university email, and relevant when we turn on Pages shortly.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now owns a complete copy of the template — data, engine, and outputs. This is the starting point for the whole three days. You can pull in new changes from the original repository. You can even contribute back to the original repository. Let's say you find a cool new software — you can let us know by contributing back to the repository you forked from. On the inevitable "is my public repo findable?" question: treat public as public. GitHub repos and Pages sites *can* be crawled and indexed, so "nobody has the link" is not privacy. The real protection is structural — the `.gitignore` keeps raw/processed data out of the repo entirely, so even a public repo never contains private data. If the *project itself* must stay hidden, use a private repo (GitHub Education gives you private Pages).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mental rule: you *fork* to take a project and make it your own; you *branch* to do a piece of work that you intend to fold back in. Today everyone forks. Tomorrow, in pairs, you'll branch and merge inside your fork. Forks have metal pieces that are not supposed to come together again; a branch may decide to grow back into the tree.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moment. The website was rendered from the code in the repo, and GitHub is now serving *your* copy of it. Nobody wrote any HTML — it came from the analysis. If anyone made their repo private, this is where it bites — point them back to the Education benefit from the account-creation step.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edit-and-commit you just did *is* a commit, done entirely in the browser. You've changed your repo and saved a labelled snapshot of it. This is the core GitHub loop, in miniature. (Editing on GitHub commits straight to `main`; when we work locally later, you'll stage → commit → push as separate steps.)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forked (copied), committed (snapshotted a change), and GitHub republished. On Day 2 we add branches and merges so two people can work at once. Same loop, more people.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repo is built to enforce that. The next slide shows how `.gitignore` protects you automatically.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day one of this workshop we use the mock dataset, so there's no risk. Tomorrow you can also bring your own data if you want to learn on your own data. In your own projects, `.gitignore` is the seatbelt: raw and processed data simply won't be pushed, even if you forget.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has been in the browser — nothing installed on the laptop yet. Use the break to help anyone whose account verification or Pages build is still catching up, so the whole room starts the install session together. Coffee runs to 11:00.</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are two separate installs. We install both. We are *not* learning R syntax today — that's Day 2. Today we just need it working.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setup problems surface, so go slowly and help neighbours. The 1 + 1 check confirms RStudio actually found R — and it's your first command in the Console.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Cloning is the mirror image of forking: fork copies on GitHub, clone copies to your laptop. The identity + token setup is the single most common place people get stuck — budget time for it, normalise the frustration, and have the PAT steps on a cheatsheet. Recommend the two paths honestly: **GitHub Desktop unblocks you fastest today** (browser sign-in, no token, plus nice visual diffs and a branch/merge view that helps later). The **PAT is what survives long-term** — it works in RStudio's Git pane, the terminal, and scripts, and won't depend on a separate app being installed. Keep RStudio's Git pane as the default for day-to-day commits; offer Desktop to anyone fighting authentication.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detour for the curious — useful so they understand that "clone from GitHub" is just one of three ways to get a `.Rproj`. For their own future projects, option 1 or 2 is common; for collaborative work, version control from the start is best.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number-one beginner trap is "R can't find my file". Opening the project fixes most of it, because paths are anchored to the project root, not your Desktop.</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all you need today. The one addition worth flagging: the **Console** runs *R* code, while the **Terminal** runs *system* commands (git, quarto). People mix these up constantly — when we render later, that goes in the Terminal, not the Console.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hardest part of the day — installs and Git authentication — is now behind us. Use the long break to get any remaining laptops cloned and opened via the `.Rproj`, so everyone is on the same footing for the afternoon. Lunch runs to 13:30.</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layers of reproducibility, one clean analogy: - **Git/GitHub** version your *code* — every change to your scripts is tracked. - **renv** versions your *packages* — the exact libraries your code depends on. You need both; pinned code running on drifting packages still breaks. In kitchen terms: `renv` pins the exact appliances and ingredient brands so the dish tastes the same in every kitchen. Concretely: I already built and tested this repo. Installing every package by hand on each of your laptops would take forever and still drift. Instead I took a *snapshot* of exactly what's installed (`renv.lock`), and you'll restore that same snapshot in one command.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`renv` is the "Environment Control" box in the diagram. Each project gets its own isolated set of packages, described precisely in `renv.lock`.</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in the Console (it's R code). This is the moment everyone's environment becomes identical. Later, after adding a package, you'd run `renv::snapshot()` to record it — but not today.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open this project in six months, the README gets you back in. When you fork for your own work, you rewrite the README first. And it's not write-once: the README is *living documentation* — every time the project's structure or setup changes, the README is the thing you update so it never lies to future-you.</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already used Markdown when you edited the README on GitHub. It's deliberately simple — the same syntax shows up in Quarto in a moment. The deeper "why" is the one from this morning's open-source slide: plain text is yours forever. A Word file depends on Word; Markdown depends on nothing. That's why our docs, and soon our reports, are plain text.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We've installed the tools — now, what does it actually take to produce an output? A **recipe** (the `.qmd` pages), the **ingredients** (data and references), and a **cook** (Quarto, running the `R/` engine). The next slides go in that order: first the recipe and how it's read, then the ingredients it pulls in, then the cook that combines them — so nothing appears out of nowhere.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Quarto is the "Publisher" box — the cook that follows the recipe. The key idea: your figures and tables are *not* pasted in — they're generated when the document renders, straight from the `R/` engine. No copy-paste, no stale numbers. On the "why Quarto": if people know R Markdown, Quarto is the same idea grown up — one tool for many languages and many output formats, still free and open.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scripts, because they drive everything else. This ordering — prepare, describe, analyse — is the backbone of the whole analysis, and the same order you'll work in on Day 2. Code always executes from the top down; nothing later works if something earlier failed. The crucial dependency: `01-data-prep` must run before the others because it *prepares the ingredients* — it pulls in the data and writes the processed cache that `02` and `03` then consume. That's our bridge to the next slide, where we look at exactly which ingredients it pulls in.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zoom into the ingredients that `01-data-preparation` from the last slide actually pulls in. Raw is input you never touch; processed is output a script creates; mock is the public, synthetic version we all run today. How it flows: by default the project reads from **mock** (no setup needed — `mock` is the default mode). When the website renders, `01-data-preparation` cleans the data and *writes the cache* `data/processed/consumer_clean.rds`; the later pages reuse it. So `processed/` fills itself when you render — you don't create it by hand. In kitchen terms: raw is the produce as delivered, processed is your mise en place, mock is the practice ingredients we cook with today. (Switching to real data swaps the *source* to `data/raw/`; that's a Day 2/3 topic.)</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ingredient — the cookbook. You keep your library in Zotero, export a `.bib` file into `references/`, and *both* outputs cite from the same source. Change a reference once, it updates everywhere — no re-typing citations into two documents. The "why" fits the open-source thread: Zotero is free and integrates across the tools we use, so your library isn't trapped in one program.</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website needs clickable HTML tables; a journal needs LaTeX. The repo formats the same results two ways — two dishes plated from the same sauce. This is the right-hand side of the diagram: Report Output.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render that GitHub ran for your Pages site. Now you can do it on your own laptop and preview before pushing. If it builds, your R + renv + Quarto chain is fully working — that's the **Day 1 finish line**. The manuscript (LaTeX) is the next, optional slide; if we're short on time it moves to Day 3 and nothing today depends on 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`quarto render reports/webpage` worked, the core Day 1 chain — R + renv + Quarto — is fully working for that person. Use the break to get anyone whose render failed across the line, so the final session is wrap-up and catch-up rather than firefighting. Coffee runs to 15:30.</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movable: if the room is fast, we install `tinytex` and render the PDF today so people see both outputs from one engine; if not, we move the whole thing to Day 3 — nothing on the checklist depends on it. The point either way: the manuscript folder is self-contained, so it can live on Overleaf for co-authoring while the data-driven parts still come from your R code. We go deeper on Day 3.</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catch-all reference for the day — pairs with the "errors are normal" slide from the morning. Most Day 1 pain is one of these seven, and a structured error message is a clue, not a failure. Read it, search the exact text, then ask. This is also the page to point at during the optional afternoon support.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words from this morning's vocabulary check? This is the same list, now as done/not-done. Run through it as an exit check. Anyone with unticked boxes should grab the optional support session — it helps for Day 2 if all of this works.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 installed today becomes the workbench for Day 2 — the kitchen is stocked and the appliances work; tomorrow we cook. The structure you set up is what makes the analysis easy to follow and easy to share. Bring your own data if you want.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3A"/>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E7C7B"/>
          </a:solidFill>
          <a:ln/>
        </p:spPr>
        <p:txBody>
          <a:bodyPr/>
          <a:lstStyle/>
          <a:p>
            <a:endParaRPr lang="en-NL"/>
          </a:p>
        </p:txBody>
      </p:sp>
      <p:sp>
        <p:nvSpPr>
          <p:cNvPr id="3" name="Text 1"/>
          <p:cNvSpPr/>
          <p:nvPr/>
        </p:nvSpPr>
        <p:spPr>
          <a:xfrm>
            <a:off x="914400" y="1371600"/>
            <a:ext cx="10058400" cy="365760"/>
          </a:xfrm>
          <a:prstGeom prst="rect">
            <a:avLst/>
          </a:prstGeom>
          <a:noFill/>
          <a:ln/>
        </p:spPr>
        <p:txBody>
          <a:bodyPr wrap="square" rtlCol="0" anchor="ctr"/>
          <a:lstStyle/>
          <a:p>
            <a:pPr marL="0" indent="0">
              <a:buNone/>
            </a:pPr>
            <a:r>
              <a:rPr lang="en-US" sz="1400" b="1" kern="0" spc="200" dirty="0">
                <a:solidFill>
                  <a:srgbClr val="8FD0CC"/>
                </a:solidFill>
                <a:latin typeface="Calibri" pitchFamily="34" charset="0"/>
                <a:ea typeface="Calibri" pitchFamily="34" charset="-122"/>
                <a:cs typeface="Calibri" pitchFamily="34" charset="-120"/>
              </a:rPr>
              <a:t>WORKSHOP · DAY 1</a:t>
            </a:r>
            <a:endParaRPr lang="en-US" sz="1400" dirty="0"/>
          </a:p>
        </p:txBody>
      </p:sp>
      <p:sp>
        <p:nvSpPr>
          <p:cNvPr id="4" name="Text 2"/>
          <p:cNvSpPr/>
          <p:nvPr/>
        </p:nvSpPr>
        <p:spPr>
          <a:xfrm>
            <a:off x="914400" y="1828800"/>
            <a:ext cx="10332720" cy="1097280"/>
          </a:xfrm>
          <a:prstGeom prst="rect">
            <a:avLst/>
          </a:prstGeom>
          <a:noFill/>
          <a:ln/>
        </p:spPr>
        <p:txBody>
          <a:bodyPr wrap="square" rtlCol="0" anchor="ctr"/>
          <a:lstStyle/>
          <a:p>
            <a:pPr marL="0" indent="0">
              <a:buNone/>
            </a:pPr>
            <a:r>
              <a:rPr lang="en-US" sz="5000" b="1" dirty="0">
                <a:solidFill>
                  <a:srgbClr val="FFFFFF"/>
                </a:solidFill>
                <a:latin typeface="Georgia" pitchFamily="34" charset="0"/>
                <a:ea typeface="Georgia" pitchFamily="34" charset="-122"/>
                <a:cs typeface="Georgia" pitchFamily="34" charset="-120"/>
              </a:rPr>
              <a:t>The Science Repository</a:t>
            </a:r>
            <a:endParaRPr lang="en-US" sz="5000" dirty="0"/>
          </a:p>
        </p:txBody>
      </p:sp>
      <p:sp>
        <p:nvSpPr>
          <p:cNvPr id="5" name="Text 3"/>
          <p:cNvSpPr/>
          <p:nvPr/>
        </p:nvSpPr>
        <p:spPr>
          <a:xfrm>
            <a:off x="932688" y="2971800"/>
            <a:ext cx="10058400" cy="548640"/>
          </a:xfrm>
          <a:prstGeom prst="rect">
            <a:avLst/>
          </a:prstGeom>
          <a:noFill/>
          <a:ln/>
        </p:spPr>
        <p:txBody>
          <a:bodyPr wrap="square" rtlCol="0" anchor="ctr"/>
          <a:lstStyle/>
          <a:p>
            <a:pPr marL="0" indent="0">
              <a:buNone/>
            </a:pPr>
            <a:r>
              <a:rPr lang="en-US" sz="2000" i="1" dirty="0">
                <a:solidFill>
                  <a:srgbClr val="CFE0E0"/>
                </a:solidFill>
                <a:latin typeface="Calibri" pitchFamily="34" charset="0"/>
                <a:ea typeface="Calibri" pitchFamily="34" charset="-122"/>
                <a:cs typeface="Calibri" pitchFamily="34" charset="-120"/>
              </a:rPr>
              <a:t>One repo for your data, your analysis, and your outputs</a:t>
            </a:r>
            <a:endParaRPr lang="en-US" sz="2000" dirty="0"/>
          </a:p>
        </p:txBody>
      </p:sp>
      <p:sp>
        <p:nvSpPr>
          <p:cNvPr id="6" name="Shape 4"/>
          <p:cNvSpPr/>
          <p:nvPr/>
        </p:nvSpPr>
        <p:spPr>
          <a:xfrm>
            <a:off x="914400" y="3886200"/>
            <a:ext cx="8686800" cy="1627632"/>
          </a:xfrm>
          <a:prstGeom prst="roundRect">
            <a:avLst>
              <a:gd name="adj" fmla="val 3371"/>
            </a:avLst>
          </a:prstGeom>
          <a:solidFill>
            <a:srgbClr val="26384B"/>
          </a:solidFill>
          <a:ln/>
        </p:spPr>
        <p:txBody>
          <a:bodyPr/>
          <a:lstStyle/>
          <a:p>
            <a:endParaRPr lang="en-NL"/>
          </a:p>
        </p:txBody>
      </p:sp>
      <p:sp>
        <p:nvSpPr>
          <p:cNvPr id="7" name="Text 5"/>
          <p:cNvSpPr/>
          <p:nvPr/>
        </p:nvSpPr>
        <p:spPr>
          <a:xfrm>
            <a:off x="1188720" y="3886200"/>
            <a:ext cx="8229600" cy="1627632"/>
          </a:xfrm>
          <a:prstGeom prst="rect">
            <a:avLst/>
          </a:prstGeom>
          <a:noFill/>
          <a:ln/>
        </p:spPr>
        <p:txBody>
          <a:bodyPr wrap="square" rtlCol="0" anchor="ctr"/>
          <a:lstStyle/>
          <a:p>
            <a:pPr marL="0" indent="0">
              <a:lnSpc>
                <a:spcPct val="125000"/>
              </a:lnSpc>
              <a:buNone/>
            </a:pPr>
            <a:r>
              <a:rPr lang="en-US" sz="1600" dirty="0">
                <a:solidFill>
                  <a:srgbClr val="DCE7E7"/>
                </a:solidFill>
                <a:latin typeface="Consolas" pitchFamily="34" charset="0"/>
                <a:ea typeface="Consolas" pitchFamily="34" charset="-122"/>
                <a:cs typeface="Consolas" pitchFamily="34" charset="-120"/>
              </a:rPr>
              <a:t>Day 1: Install everything + understand the repository</a:t>
            </a:r>
            <a:endParaRPr lang="en-US" sz="1600" dirty="0"/>
          </a:p>
          <a:p>
            <a:pPr marL="0" indent="0">
              <a:lnSpc>
                <a:spcPct val="125000"/>
              </a:lnSpc>
              <a:buNone/>
            </a:pPr>
            <a:r>
              <a:rPr lang="en-US" sz="1600" dirty="0">
                <a:solidFill>
                  <a:srgbClr val="DCE7E7"/>
                </a:solidFill>
                <a:latin typeface="Consolas" pitchFamily="34" charset="0"/>
                <a:ea typeface="Consolas" pitchFamily="34" charset="-122"/>
                <a:cs typeface="Consolas" pitchFamily="34" charset="-120"/>
              </a:rPr>
              <a:t>Day 2: Analyse the data in R</a:t>
            </a:r>
            <a:endParaRPr lang="en-US" sz="1600" dirty="0"/>
          </a:p>
          <a:p>
            <a:pPr marL="0" indent="0">
              <a:lnSpc>
                <a:spcPct val="125000"/>
              </a:lnSpc>
              <a:buNone/>
            </a:pPr>
            <a:r>
              <a:rPr lang="en-US" sz="1600" dirty="0">
                <a:solidFill>
                  <a:srgbClr val="DCE7E7"/>
                </a:solidFill>
                <a:latin typeface="Consolas" pitchFamily="34" charset="0"/>
                <a:ea typeface="Consolas" pitchFamily="34" charset="-122"/>
                <a:cs typeface="Consolas" pitchFamily="34" charset="-120"/>
              </a:rPr>
              <a:t>Day 3: Reporting, publication, VS Code, and hypercharge your codebase</a:t>
            </a:r>
            <a:endParaRPr lang="en-US" sz="1600" dirty="0"/>
          </a:p>
        </p:txBody>
      </p:sp>
      <p:sp>
        <p:nvSpPr>
          <p:cNvPr id="8" name="Text 6"/>
          <p:cNvSpPr/>
          <p:nvPr/>
        </p:nvSpPr>
        <p:spPr>
          <a:xfrm>
            <a:off x="914400" y="6217920"/>
            <a:ext cx="5486400" cy="274320"/>
          </a:xfrm>
          <a:prstGeom prst="rect">
            <a:avLst/>
          </a:prstGeom>
          <a:noFill/>
          <a:ln/>
        </p:spPr>
        <p:txBody>
          <a:bodyPr wrap="square" rtlCol="0" anchor="ctr"/>
          <a:lstStyle/>
          <a:p>
            <a:pPr marL="0" indent="0">
              <a:buNone/>
            </a:pPr>
            <a:r>
              <a:rPr lang="en-US" sz="1100" dirty="0">
                <a:solidFill>
                  <a:srgbClr val="6E8088"/>
                </a:solidFill>
                <a:latin typeface="Calibri" pitchFamily="34" charset="0"/>
                <a:ea typeface="Calibri" pitchFamily="34" charset="-122"/>
                <a:cs typeface="Calibri" pitchFamily="34" charset="-120"/>
              </a:rPr>
              <a:t>The Dataflow Company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A · FRAMING &amp; EXPECTATIONS</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A quick vocabulary check</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640080" y="1691640"/>
            <a:ext cx="10911535" cy="971550"/>
          </a:xfrm>
          <a:prstGeom prst="rect">
            <a:avLst/>
          </a:prstGeom>
          <a:solidFill>
            <a:srgbClr val="F1F4F7"/>
          </a:solidFill>
          <a:ln/>
        </p:spPr>
        <p:txBody>
          <a:bodyPr/>
          <a:lstStyle/>
          <a:p>
            <a:endParaRPr lang="en-NL"/>
          </a:p>
        </p:txBody>
      </p:sp>
      <p:sp>
        <p:nvSpPr>
          <p:cNvPr id="7" name="Shape 5"/>
          <p:cNvSpPr/>
          <p:nvPr/>
        </p:nvSpPr>
        <p:spPr>
          <a:xfrm>
            <a:off x="640080" y="1691640"/>
            <a:ext cx="64008" cy="971550"/>
          </a:xfrm>
          <a:prstGeom prst="rect">
            <a:avLst/>
          </a:prstGeom>
          <a:solidFill>
            <a:srgbClr val="0E7C7B"/>
          </a:solidFill>
          <a:ln/>
        </p:spPr>
        <p:txBody>
          <a:bodyPr/>
          <a:lstStyle/>
          <a:p>
            <a:endParaRPr lang="en-NL"/>
          </a:p>
        </p:txBody>
      </p:sp>
      <p:sp>
        <p:nvSpPr>
          <p:cNvPr id="8" name="Text 6"/>
          <p:cNvSpPr/>
          <p:nvPr/>
        </p:nvSpPr>
        <p:spPr>
          <a:xfrm>
            <a:off x="877824" y="1837944"/>
            <a:ext cx="10527487" cy="678942"/>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fork        commit        push / pull       branch / merge       stage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repository  RStudio       .Rproj            renv                 snapshot</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Quarto      render        .qmd              GitHub Pages         Overleaf</a:t>
            </a:r>
            <a:endParaRPr lang="en-US" sz="1350" dirty="0"/>
          </a:p>
        </p:txBody>
      </p:sp>
      <p:sp>
        <p:nvSpPr>
          <p:cNvPr id="9" name="Shape 7"/>
          <p:cNvSpPr/>
          <p:nvPr/>
        </p:nvSpPr>
        <p:spPr>
          <a:xfrm>
            <a:off x="640080" y="2809494"/>
            <a:ext cx="10911535" cy="640080"/>
          </a:xfrm>
          <a:prstGeom prst="roundRect">
            <a:avLst>
              <a:gd name="adj" fmla="val 8571"/>
            </a:avLst>
          </a:prstGeom>
          <a:solidFill>
            <a:srgbClr val="E7F1F0"/>
          </a:solidFill>
          <a:ln/>
        </p:spPr>
        <p:txBody>
          <a:bodyPr/>
          <a:lstStyle/>
          <a:p>
            <a:endParaRPr lang="en-NL"/>
          </a:p>
        </p:txBody>
      </p:sp>
      <p:sp>
        <p:nvSpPr>
          <p:cNvPr id="10" name="Text 8"/>
          <p:cNvSpPr/>
          <p:nvPr/>
        </p:nvSpPr>
        <p:spPr>
          <a:xfrm>
            <a:off x="914400" y="2809494"/>
            <a:ext cx="10362895" cy="640080"/>
          </a:xfrm>
          <a:prstGeom prst="rect">
            <a:avLst/>
          </a:prstGeom>
          <a:noFill/>
          <a:ln/>
        </p:spPr>
        <p:txBody>
          <a:bodyPr wrap="square" rtlCol="0" anchor="ctr"/>
          <a:lstStyle/>
          <a:p>
            <a:pPr marL="0" indent="0" algn="ctr">
              <a:buNone/>
            </a:pPr>
            <a:r>
              <a:rPr lang="en-US" sz="1650" i="1" dirty="0">
                <a:solidFill>
                  <a:srgbClr val="0E7C7B"/>
                </a:solidFill>
                <a:latin typeface="Georgia" pitchFamily="34" charset="0"/>
                <a:ea typeface="Georgia" pitchFamily="34" charset="-122"/>
                <a:cs typeface="Georgia" pitchFamily="34" charset="-120"/>
              </a:rPr>
              <a:t>Don't know all of them yet? Perfect. After today, we hope you do.</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A · FRAMING &amp; EXPECTATIONS</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Setting expectations — *not* today</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640080" y="1691640"/>
            <a:ext cx="10911535" cy="1650492"/>
          </a:xfrm>
          <a:prstGeom prst="rect">
            <a:avLst/>
          </a:prstGeom>
          <a:solidFill>
            <a:srgbClr val="F1F4F7"/>
          </a:solidFill>
          <a:ln/>
        </p:spPr>
        <p:txBody>
          <a:bodyPr/>
          <a:lstStyle/>
          <a:p>
            <a:endParaRPr lang="en-NL"/>
          </a:p>
        </p:txBody>
      </p:sp>
      <p:sp>
        <p:nvSpPr>
          <p:cNvPr id="7" name="Shape 5"/>
          <p:cNvSpPr/>
          <p:nvPr/>
        </p:nvSpPr>
        <p:spPr>
          <a:xfrm>
            <a:off x="640080" y="1691640"/>
            <a:ext cx="64008" cy="1650492"/>
          </a:xfrm>
          <a:prstGeom prst="rect">
            <a:avLst/>
          </a:prstGeom>
          <a:solidFill>
            <a:srgbClr val="0E7C7B"/>
          </a:solidFill>
          <a:ln/>
        </p:spPr>
        <p:txBody>
          <a:bodyPr/>
          <a:lstStyle/>
          <a:p>
            <a:endParaRPr lang="en-NL"/>
          </a:p>
        </p:txBody>
      </p:sp>
      <p:sp>
        <p:nvSpPr>
          <p:cNvPr id="8" name="Text 6"/>
          <p:cNvSpPr/>
          <p:nvPr/>
        </p:nvSpPr>
        <p:spPr>
          <a:xfrm>
            <a:off x="877824" y="1837944"/>
            <a:ext cx="10527487" cy="1357884"/>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Deep R syntax        → Day 2 (objects, functions, dataframes, modelling)</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VS Code              → Day 3 (RStudio is our environment for now)</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Real data            → Day 2/3 (everything today runs on safe mock data)</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Responsible AI use   → Day 3 (the repo's AI guardrails, in context)</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Today's single job: install the tools and understand how they fit together.</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A · FRAMING &amp; EXPECTATIONS</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Every box is a tool we install today</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4</a:t>
            </a:r>
            <a:endParaRPr lang="en-US" sz="900" dirty="0"/>
          </a:p>
        </p:txBody>
      </p:sp>
      <p:pic>
        <p:nvPicPr>
          <p:cNvPr id="6" name="Image 0" descr="/Users/maximilianagostini/dev/the-dataflow-company/the-science-repository/workshop_info/overall_structure.png"/>
          <p:cNvPicPr>
            <a:picLocks noChangeAspect="1"/>
          </p:cNvPicPr>
          <p:nvPr/>
        </p:nvPicPr>
        <p:blipFill>
          <a:blip r:embed="rId3"/>
          <a:stretch>
            <a:fillRect/>
          </a:stretch>
        </p:blipFill>
        <p:spPr>
          <a:xfrm>
            <a:off x="2365887" y="1783080"/>
            <a:ext cx="7459922" cy="42062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A · FRAMING &amp; EXPECTATIONS</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Every tool today is free and open — on purpose</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640080" y="1691640"/>
            <a:ext cx="10911535" cy="2103120"/>
          </a:xfrm>
          <a:prstGeom prst="rect">
            <a:avLst/>
          </a:prstGeom>
          <a:solidFill>
            <a:srgbClr val="F1F4F7"/>
          </a:solidFill>
          <a:ln/>
        </p:spPr>
        <p:txBody>
          <a:bodyPr/>
          <a:lstStyle/>
          <a:p>
            <a:endParaRPr lang="en-NL"/>
          </a:p>
        </p:txBody>
      </p:sp>
      <p:sp>
        <p:nvSpPr>
          <p:cNvPr id="7" name="Shape 5"/>
          <p:cNvSpPr/>
          <p:nvPr/>
        </p:nvSpPr>
        <p:spPr>
          <a:xfrm>
            <a:off x="640080" y="1691640"/>
            <a:ext cx="64008" cy="2103120"/>
          </a:xfrm>
          <a:prstGeom prst="rect">
            <a:avLst/>
          </a:prstGeom>
          <a:solidFill>
            <a:srgbClr val="0E7C7B"/>
          </a:solidFill>
          <a:ln/>
        </p:spPr>
        <p:txBody>
          <a:bodyPr/>
          <a:lstStyle/>
          <a:p>
            <a:endParaRPr lang="en-NL"/>
          </a:p>
        </p:txBody>
      </p:sp>
      <p:sp>
        <p:nvSpPr>
          <p:cNvPr id="8" name="Text 6"/>
          <p:cNvSpPr/>
          <p:nvPr/>
        </p:nvSpPr>
        <p:spPr>
          <a:xfrm>
            <a:off x="877824" y="1837944"/>
            <a:ext cx="10527487" cy="1810512"/>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 &amp; friends    free; huge community; you keep your analysis   (vs SPSS: £££, closed)</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Markdown       plain text; machine-readable; no vendor can lock or change it (vs Word)</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Git / GitHub   open standard; the full history is yours to keep and to move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Zotero         free, open reference manager; plugs into Word, Quarto, Overleaf</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Quarto         free, open publishing; one source → website, PDF, Word</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Open + free + standard = reproducible, shareable, and future-proof.</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No licence to expire. No format you can't open in ten years.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A · FRAMING &amp; EXPECTATIONS</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One analogy for the whole repository</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640080" y="1691640"/>
            <a:ext cx="10911535" cy="1876806"/>
          </a:xfrm>
          <a:prstGeom prst="rect">
            <a:avLst/>
          </a:prstGeom>
          <a:solidFill>
            <a:srgbClr val="F1F4F7"/>
          </a:solidFill>
          <a:ln/>
        </p:spPr>
        <p:txBody>
          <a:bodyPr/>
          <a:lstStyle/>
          <a:p>
            <a:endParaRPr lang="en-NL"/>
          </a:p>
        </p:txBody>
      </p:sp>
      <p:sp>
        <p:nvSpPr>
          <p:cNvPr id="7" name="Shape 5"/>
          <p:cNvSpPr/>
          <p:nvPr/>
        </p:nvSpPr>
        <p:spPr>
          <a:xfrm>
            <a:off x="640080" y="1691640"/>
            <a:ext cx="64008" cy="1876806"/>
          </a:xfrm>
          <a:prstGeom prst="rect">
            <a:avLst/>
          </a:prstGeom>
          <a:solidFill>
            <a:srgbClr val="0E7C7B"/>
          </a:solidFill>
          <a:ln/>
        </p:spPr>
        <p:txBody>
          <a:bodyPr/>
          <a:lstStyle/>
          <a:p>
            <a:endParaRPr lang="en-NL"/>
          </a:p>
        </p:txBody>
      </p:sp>
      <p:sp>
        <p:nvSpPr>
          <p:cNvPr id="8" name="Text 6"/>
          <p:cNvSpPr/>
          <p:nvPr/>
        </p:nvSpPr>
        <p:spPr>
          <a:xfrm>
            <a:off x="877824" y="1837944"/>
            <a:ext cx="10527487" cy="1584198"/>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data/         the pantry       →  ingredients you cook with</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references/   the cookbook     →  the sources you cite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            the kitchen + your techniques  →  reusable functions (how you cook)</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reports/      the recipes      →  step-by-step instructions (.qmd files)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renders/      the finished dishes  →  plated and served (website + paper)</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renv/         your exact appliances &amp; brands  →  the dish tastes the same in any kitchen</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GitHub        the photo-log of every version  →  and how you share with other cooks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A · FRAMING &amp; EXPECTATIONS</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One repo = data + engine + two outputs</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640080" y="1691640"/>
            <a:ext cx="10911535" cy="1650492"/>
          </a:xfrm>
          <a:prstGeom prst="rect">
            <a:avLst/>
          </a:prstGeom>
          <a:solidFill>
            <a:srgbClr val="F1F4F7"/>
          </a:solidFill>
          <a:ln/>
        </p:spPr>
        <p:txBody>
          <a:bodyPr/>
          <a:lstStyle/>
          <a:p>
            <a:endParaRPr lang="en-NL"/>
          </a:p>
        </p:txBody>
      </p:sp>
      <p:sp>
        <p:nvSpPr>
          <p:cNvPr id="7" name="Shape 5"/>
          <p:cNvSpPr/>
          <p:nvPr/>
        </p:nvSpPr>
        <p:spPr>
          <a:xfrm>
            <a:off x="640080" y="1691640"/>
            <a:ext cx="64008" cy="1650492"/>
          </a:xfrm>
          <a:prstGeom prst="rect">
            <a:avLst/>
          </a:prstGeom>
          <a:solidFill>
            <a:srgbClr val="0E7C7B"/>
          </a:solidFill>
          <a:ln/>
        </p:spPr>
        <p:txBody>
          <a:bodyPr/>
          <a:lstStyle/>
          <a:p>
            <a:endParaRPr lang="en-NL"/>
          </a:p>
        </p:txBody>
      </p:sp>
      <p:sp>
        <p:nvSpPr>
          <p:cNvPr id="8" name="Text 6"/>
          <p:cNvSpPr/>
          <p:nvPr/>
        </p:nvSpPr>
        <p:spPr>
          <a:xfrm>
            <a:off x="877824" y="1837944"/>
            <a:ext cx="10527487" cy="1357884"/>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        computes   → the analysis engine (setup + reusable functions)   — the kitchen</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reports/  create     → the recipes you render (webpage + manuscript)      — the recipes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renders/  are results→ the finished website and paper                     — the dishes</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Cook the sauce once in R/ and BOTH outputs use it on the next render.</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Nothing is copied by hand between them.</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A · FRAMING &amp; EXPECTATIONS</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A quick tour of the folders (the kitchen, room by room)</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640080" y="1691640"/>
            <a:ext cx="10911535" cy="1650492"/>
          </a:xfrm>
          <a:prstGeom prst="rect">
            <a:avLst/>
          </a:prstGeom>
          <a:solidFill>
            <a:srgbClr val="F1F4F7"/>
          </a:solidFill>
          <a:ln/>
        </p:spPr>
        <p:txBody>
          <a:bodyPr/>
          <a:lstStyle/>
          <a:p>
            <a:endParaRPr lang="en-NL"/>
          </a:p>
        </p:txBody>
      </p:sp>
      <p:sp>
        <p:nvSpPr>
          <p:cNvPr id="7" name="Shape 5"/>
          <p:cNvSpPr/>
          <p:nvPr/>
        </p:nvSpPr>
        <p:spPr>
          <a:xfrm>
            <a:off x="640080" y="1691640"/>
            <a:ext cx="64008" cy="1650492"/>
          </a:xfrm>
          <a:prstGeom prst="rect">
            <a:avLst/>
          </a:prstGeom>
          <a:solidFill>
            <a:srgbClr val="0E7C7B"/>
          </a:solidFill>
          <a:ln/>
        </p:spPr>
        <p:txBody>
          <a:bodyPr/>
          <a:lstStyle/>
          <a:p>
            <a:endParaRPr lang="en-NL"/>
          </a:p>
        </p:txBody>
      </p:sp>
      <p:sp>
        <p:nvSpPr>
          <p:cNvPr id="8" name="Text 6"/>
          <p:cNvSpPr/>
          <p:nvPr/>
        </p:nvSpPr>
        <p:spPr>
          <a:xfrm>
            <a:off x="877824" y="1837944"/>
            <a:ext cx="10527487" cy="1357884"/>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           the kitchen: 01_setup.R + functions/   (techniques you reuse)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data/        the pantry:  mock/ (committed)  ·  raw/ &amp; processed/ (private, gitignored)</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reports/     the recipes: webpage/  ·  manuscript/  (what you render + the words you write)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renders/     the dishes:  webpage/  ·  manuscript/  (the rendered outputs)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references/  the cookbook: references.bib  (shared by website + manuscript)</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renv/        the appliances: pinned package versions (renv.lock)</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B · GITHUB FIRST</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Errors are part of the process</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640080" y="1691640"/>
            <a:ext cx="10911535" cy="2103120"/>
          </a:xfrm>
          <a:prstGeom prst="rect">
            <a:avLst/>
          </a:prstGeom>
          <a:solidFill>
            <a:srgbClr val="F1F4F7"/>
          </a:solidFill>
          <a:ln/>
        </p:spPr>
        <p:txBody>
          <a:bodyPr/>
          <a:lstStyle/>
          <a:p>
            <a:endParaRPr lang="en-NL"/>
          </a:p>
        </p:txBody>
      </p:sp>
      <p:sp>
        <p:nvSpPr>
          <p:cNvPr id="7" name="Shape 5"/>
          <p:cNvSpPr/>
          <p:nvPr/>
        </p:nvSpPr>
        <p:spPr>
          <a:xfrm>
            <a:off x="640080" y="1691640"/>
            <a:ext cx="64008" cy="2103120"/>
          </a:xfrm>
          <a:prstGeom prst="rect">
            <a:avLst/>
          </a:prstGeom>
          <a:solidFill>
            <a:srgbClr val="0E7C7B"/>
          </a:solidFill>
          <a:ln/>
        </p:spPr>
        <p:txBody>
          <a:bodyPr/>
          <a:lstStyle/>
          <a:p>
            <a:endParaRPr lang="en-NL"/>
          </a:p>
        </p:txBody>
      </p:sp>
      <p:sp>
        <p:nvSpPr>
          <p:cNvPr id="8" name="Text 6"/>
          <p:cNvSpPr/>
          <p:nvPr/>
        </p:nvSpPr>
        <p:spPr>
          <a:xfrm>
            <a:off x="877824" y="1837944"/>
            <a:ext cx="10527487" cy="1810512"/>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Errors are normal. Everyone in this room will see red text today.</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An error message is a clue, not a failure.</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When you hit one: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1. Read it slowly — the answer is usually right there (a path, a name, a missing thing)</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2. Recall the last thing you did — the error points back to it</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3. Copy the exact message into a search engine — someone has hit it before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4. Ask a neighbour, or ask us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B · GITHUB FIRST</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Version control: the safety net</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640080" y="1691640"/>
            <a:ext cx="10911535" cy="1197864"/>
          </a:xfrm>
          <a:prstGeom prst="rect">
            <a:avLst/>
          </a:prstGeom>
          <a:solidFill>
            <a:srgbClr val="F1F4F7"/>
          </a:solidFill>
          <a:ln/>
        </p:spPr>
        <p:txBody>
          <a:bodyPr/>
          <a:lstStyle/>
          <a:p>
            <a:endParaRPr lang="en-NL"/>
          </a:p>
        </p:txBody>
      </p:sp>
      <p:sp>
        <p:nvSpPr>
          <p:cNvPr id="7" name="Shape 5"/>
          <p:cNvSpPr/>
          <p:nvPr/>
        </p:nvSpPr>
        <p:spPr>
          <a:xfrm>
            <a:off x="640080" y="1691640"/>
            <a:ext cx="64008" cy="1197864"/>
          </a:xfrm>
          <a:prstGeom prst="rect">
            <a:avLst/>
          </a:prstGeom>
          <a:solidFill>
            <a:srgbClr val="0E7C7B"/>
          </a:solidFill>
          <a:ln/>
        </p:spPr>
        <p:txBody>
          <a:bodyPr/>
          <a:lstStyle/>
          <a:p>
            <a:endParaRPr lang="en-NL"/>
          </a:p>
        </p:txBody>
      </p:sp>
      <p:sp>
        <p:nvSpPr>
          <p:cNvPr id="8" name="Text 6"/>
          <p:cNvSpPr/>
          <p:nvPr/>
        </p:nvSpPr>
        <p:spPr>
          <a:xfrm>
            <a:off x="877824" y="1837944"/>
            <a:ext cx="10527487" cy="905256"/>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Git    = tracks the history of changes in a project folder</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GitHub = hosts that project online, so you can share and collaborate</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A repository ("repo") = a project folder + its full change history</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B · GITHUB FIRST</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The words you'll hear all day</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640080" y="1691640"/>
            <a:ext cx="10911535" cy="2103120"/>
          </a:xfrm>
          <a:prstGeom prst="rect">
            <a:avLst/>
          </a:prstGeom>
          <a:solidFill>
            <a:srgbClr val="F1F4F7"/>
          </a:solidFill>
          <a:ln/>
        </p:spPr>
        <p:txBody>
          <a:bodyPr/>
          <a:lstStyle/>
          <a:p>
            <a:endParaRPr lang="en-NL"/>
          </a:p>
        </p:txBody>
      </p:sp>
      <p:sp>
        <p:nvSpPr>
          <p:cNvPr id="7" name="Shape 5"/>
          <p:cNvSpPr/>
          <p:nvPr/>
        </p:nvSpPr>
        <p:spPr>
          <a:xfrm>
            <a:off x="640080" y="1691640"/>
            <a:ext cx="64008" cy="2103120"/>
          </a:xfrm>
          <a:prstGeom prst="rect">
            <a:avLst/>
          </a:prstGeom>
          <a:solidFill>
            <a:srgbClr val="0E7C7B"/>
          </a:solidFill>
          <a:ln/>
        </p:spPr>
        <p:txBody>
          <a:bodyPr/>
          <a:lstStyle/>
          <a:p>
            <a:endParaRPr lang="en-NL"/>
          </a:p>
        </p:txBody>
      </p:sp>
      <p:sp>
        <p:nvSpPr>
          <p:cNvPr id="8" name="Text 6"/>
          <p:cNvSpPr/>
          <p:nvPr/>
        </p:nvSpPr>
        <p:spPr>
          <a:xfrm>
            <a:off x="877824" y="1837944"/>
            <a:ext cx="10527487" cy="1810512"/>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Fork    Make your own copy of someone else's repo on GitHub</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Clone   Download a repo to your computer</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Stage   Pick which changes go into the next commit</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Commit  Save a labelled snapshot of the staged changes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Push    Send your commits up to GitHub</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Pull    Bring GitHub's changes down to your computer</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Branch  A separate line of work</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Merge   Combine work from different branches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B · GITHUB FIRST    ·    EXERCISE · STEP 1</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Step 1 — get an account</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640080" y="1691640"/>
            <a:ext cx="10911535" cy="1197864"/>
          </a:xfrm>
          <a:prstGeom prst="rect">
            <a:avLst/>
          </a:prstGeom>
          <a:solidFill>
            <a:srgbClr val="F1F4F7"/>
          </a:solidFill>
          <a:ln/>
        </p:spPr>
        <p:txBody>
          <a:bodyPr/>
          <a:lstStyle/>
          <a:p>
            <a:endParaRPr lang="en-NL"/>
          </a:p>
        </p:txBody>
      </p:sp>
      <p:sp>
        <p:nvSpPr>
          <p:cNvPr id="7" name="Shape 5"/>
          <p:cNvSpPr/>
          <p:nvPr/>
        </p:nvSpPr>
        <p:spPr>
          <a:xfrm>
            <a:off x="640080" y="1691640"/>
            <a:ext cx="64008" cy="1197864"/>
          </a:xfrm>
          <a:prstGeom prst="rect">
            <a:avLst/>
          </a:prstGeom>
          <a:solidFill>
            <a:srgbClr val="0E7C7B"/>
          </a:solidFill>
          <a:ln/>
        </p:spPr>
        <p:txBody>
          <a:bodyPr/>
          <a:lstStyle/>
          <a:p>
            <a:endParaRPr lang="en-NL"/>
          </a:p>
        </p:txBody>
      </p:sp>
      <p:sp>
        <p:nvSpPr>
          <p:cNvPr id="8" name="Text 6"/>
          <p:cNvSpPr/>
          <p:nvPr/>
        </p:nvSpPr>
        <p:spPr>
          <a:xfrm>
            <a:off x="877824" y="1837944"/>
            <a:ext cx="10527487" cy="905256"/>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1. Go to  github.com</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2. Sign up (use an email you'll keep — ideally your university email)</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3. Verify your email</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4. Pick a username you're happy to share publicly</a:t>
            </a:r>
            <a:endParaRPr lang="en-US" sz="1350" dirty="0"/>
          </a:p>
        </p:txBody>
      </p:sp>
      <p:sp>
        <p:nvSpPr>
          <p:cNvPr id="9" name="Shape 7"/>
          <p:cNvSpPr/>
          <p:nvPr/>
        </p:nvSpPr>
        <p:spPr>
          <a:xfrm>
            <a:off x="640080" y="3035808"/>
            <a:ext cx="10911535" cy="774954"/>
          </a:xfrm>
          <a:prstGeom prst="rect">
            <a:avLst/>
          </a:prstGeom>
          <a:solidFill>
            <a:srgbClr val="E7F2EC"/>
          </a:solidFill>
          <a:ln/>
        </p:spPr>
        <p:txBody>
          <a:bodyPr/>
          <a:lstStyle/>
          <a:p>
            <a:endParaRPr lang="en-NL"/>
          </a:p>
        </p:txBody>
      </p:sp>
      <p:sp>
        <p:nvSpPr>
          <p:cNvPr id="10" name="Shape 8"/>
          <p:cNvSpPr/>
          <p:nvPr/>
        </p:nvSpPr>
        <p:spPr>
          <a:xfrm>
            <a:off x="640080" y="3035808"/>
            <a:ext cx="64008" cy="774954"/>
          </a:xfrm>
          <a:prstGeom prst="rect">
            <a:avLst/>
          </a:prstGeom>
          <a:solidFill>
            <a:srgbClr val="2E7D5B"/>
          </a:solidFill>
          <a:ln/>
        </p:spPr>
        <p:txBody>
          <a:bodyPr/>
          <a:lstStyle/>
          <a:p>
            <a:endParaRPr lang="en-NL"/>
          </a:p>
        </p:txBody>
      </p:sp>
      <p:sp>
        <p:nvSpPr>
          <p:cNvPr id="11" name="Text 9"/>
          <p:cNvSpPr/>
          <p:nvPr/>
        </p:nvSpPr>
        <p:spPr>
          <a:xfrm>
            <a:off x="877824" y="3108960"/>
            <a:ext cx="10527487" cy="237744"/>
          </a:xfrm>
          <a:prstGeom prst="rect">
            <a:avLst/>
          </a:prstGeom>
          <a:noFill/>
          <a:ln/>
        </p:spPr>
        <p:txBody>
          <a:bodyPr wrap="square" rtlCol="0" anchor="ctr"/>
          <a:lstStyle/>
          <a:p>
            <a:pPr marL="0" indent="0">
              <a:buNone/>
            </a:pPr>
            <a:r>
              <a:rPr lang="en-US" sz="1050" b="1" kern="0" spc="150" dirty="0">
                <a:solidFill>
                  <a:srgbClr val="2E7D5B"/>
                </a:solidFill>
                <a:latin typeface="Calibri" pitchFamily="34" charset="0"/>
                <a:ea typeface="Calibri" pitchFamily="34" charset="-122"/>
                <a:cs typeface="Calibri" pitchFamily="34" charset="-120"/>
              </a:rPr>
              <a:t>CHECK</a:t>
            </a:r>
            <a:endParaRPr lang="en-US" sz="1050" dirty="0"/>
          </a:p>
        </p:txBody>
      </p:sp>
      <p:sp>
        <p:nvSpPr>
          <p:cNvPr id="12" name="Text 10"/>
          <p:cNvSpPr/>
          <p:nvPr/>
        </p:nvSpPr>
        <p:spPr>
          <a:xfrm>
            <a:off x="877824" y="3364992"/>
            <a:ext cx="10527487" cy="317754"/>
          </a:xfrm>
          <a:prstGeom prst="rect">
            <a:avLst/>
          </a:prstGeom>
          <a:noFill/>
          <a:ln/>
        </p:spPr>
        <p:txBody>
          <a:bodyPr wrap="square" rtlCol="0" anchor="t"/>
          <a:lstStyle/>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Can you log in and see your (empty) GitHub dashboard?</a:t>
            </a:r>
            <a:endParaRPr lang="en-US" sz="1250" dirty="0"/>
          </a:p>
        </p:txBody>
      </p:sp>
      <p:sp>
        <p:nvSpPr>
          <p:cNvPr id="13" name="Shape 11"/>
          <p:cNvSpPr/>
          <p:nvPr/>
        </p:nvSpPr>
        <p:spPr>
          <a:xfrm>
            <a:off x="640080" y="3957066"/>
            <a:ext cx="10911535" cy="1680210"/>
          </a:xfrm>
          <a:prstGeom prst="rect">
            <a:avLst/>
          </a:prstGeom>
          <a:solidFill>
            <a:srgbClr val="FBF0DA"/>
          </a:solidFill>
          <a:ln/>
        </p:spPr>
        <p:txBody>
          <a:bodyPr/>
          <a:lstStyle/>
          <a:p>
            <a:endParaRPr lang="en-NL"/>
          </a:p>
        </p:txBody>
      </p:sp>
      <p:sp>
        <p:nvSpPr>
          <p:cNvPr id="14" name="Shape 12"/>
          <p:cNvSpPr/>
          <p:nvPr/>
        </p:nvSpPr>
        <p:spPr>
          <a:xfrm>
            <a:off x="640080" y="3957066"/>
            <a:ext cx="64008" cy="1680210"/>
          </a:xfrm>
          <a:prstGeom prst="rect">
            <a:avLst/>
          </a:prstGeom>
          <a:solidFill>
            <a:srgbClr val="9C5A00"/>
          </a:solidFill>
          <a:ln/>
        </p:spPr>
        <p:txBody>
          <a:bodyPr/>
          <a:lstStyle/>
          <a:p>
            <a:endParaRPr lang="en-NL"/>
          </a:p>
        </p:txBody>
      </p:sp>
      <p:sp>
        <p:nvSpPr>
          <p:cNvPr id="15" name="Text 13"/>
          <p:cNvSpPr/>
          <p:nvPr/>
        </p:nvSpPr>
        <p:spPr>
          <a:xfrm>
            <a:off x="877824" y="4030218"/>
            <a:ext cx="10527487" cy="237744"/>
          </a:xfrm>
          <a:prstGeom prst="rect">
            <a:avLst/>
          </a:prstGeom>
          <a:noFill/>
          <a:ln/>
        </p:spPr>
        <p:txBody>
          <a:bodyPr wrap="square" rtlCol="0" anchor="ctr"/>
          <a:lstStyle/>
          <a:p>
            <a:pPr marL="0" indent="0">
              <a:buNone/>
            </a:pPr>
            <a:r>
              <a:rPr lang="en-US" sz="1050" b="1" kern="0" spc="150" dirty="0">
                <a:solidFill>
                  <a:srgbClr val="9C5A00"/>
                </a:solidFill>
                <a:latin typeface="Calibri" pitchFamily="34" charset="0"/>
                <a:ea typeface="Calibri" pitchFamily="34" charset="-122"/>
                <a:cs typeface="Calibri" pitchFamily="34" charset="-120"/>
              </a:rPr>
              <a:t>⚠  WATCH OUT (COMMON BLOCKERS)</a:t>
            </a:r>
            <a:endParaRPr lang="en-US" sz="1050" dirty="0"/>
          </a:p>
        </p:txBody>
      </p:sp>
      <p:sp>
        <p:nvSpPr>
          <p:cNvPr id="16" name="Text 14"/>
          <p:cNvSpPr/>
          <p:nvPr/>
        </p:nvSpPr>
        <p:spPr>
          <a:xfrm>
            <a:off x="877824" y="4286250"/>
            <a:ext cx="10527487" cy="1223010"/>
          </a:xfrm>
          <a:prstGeom prst="rect">
            <a:avLst/>
          </a:prstGeom>
          <a:noFill/>
          <a:ln/>
        </p:spPr>
        <p:txBody>
          <a:bodyPr wrap="square" rtlCol="0" anchor="t"/>
          <a:lstStyle/>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Verification email can be slow or land in spam — check both.</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Some corporate/university mail servers block the verification link;</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have a fallback personal email ready.</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The username becomes part of your public website URL later — choose</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something you won't regret printing on a paper.</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B · GITHUB FIRST    ·    EXERCISE · STEP 2</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Step 2 — make it yours</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640080" y="1691640"/>
            <a:ext cx="10911535" cy="912876"/>
          </a:xfrm>
          <a:prstGeom prst="rect">
            <a:avLst/>
          </a:prstGeom>
          <a:solidFill>
            <a:srgbClr val="F1F4F7"/>
          </a:solidFill>
          <a:ln/>
        </p:spPr>
        <p:txBody>
          <a:bodyPr/>
          <a:lstStyle/>
          <a:p>
            <a:endParaRPr lang="en-NL"/>
          </a:p>
        </p:txBody>
      </p:sp>
      <p:sp>
        <p:nvSpPr>
          <p:cNvPr id="7" name="Shape 5"/>
          <p:cNvSpPr/>
          <p:nvPr/>
        </p:nvSpPr>
        <p:spPr>
          <a:xfrm>
            <a:off x="640080" y="1691640"/>
            <a:ext cx="64008" cy="912876"/>
          </a:xfrm>
          <a:prstGeom prst="rect">
            <a:avLst/>
          </a:prstGeom>
          <a:solidFill>
            <a:srgbClr val="0E7C7B"/>
          </a:solidFill>
          <a:ln/>
        </p:spPr>
        <p:txBody>
          <a:bodyPr/>
          <a:lstStyle/>
          <a:p>
            <a:endParaRPr lang="en-NL"/>
          </a:p>
        </p:txBody>
      </p:sp>
      <p:sp>
        <p:nvSpPr>
          <p:cNvPr id="8" name="Text 6"/>
          <p:cNvSpPr/>
          <p:nvPr/>
        </p:nvSpPr>
        <p:spPr>
          <a:xfrm>
            <a:off x="877824" y="1837944"/>
            <a:ext cx="10527487" cy="620268"/>
          </a:xfrm>
          <a:prstGeom prst="rect">
            <a:avLst/>
          </a:prstGeom>
          <a:noFill/>
          <a:ln/>
        </p:spPr>
        <p:txBody>
          <a:bodyPr wrap="square" rtlCol="0" anchor="t"/>
          <a:lstStyle/>
          <a:p>
            <a:pPr marL="0" indent="0" algn="l">
              <a:lnSpc>
                <a:spcPct val="112000"/>
              </a:lnSpc>
              <a:buNone/>
            </a:pPr>
            <a:r>
              <a:rPr lang="en-US" sz="925" dirty="0">
                <a:solidFill>
                  <a:srgbClr val="243748"/>
                </a:solidFill>
                <a:latin typeface="Consolas" pitchFamily="34" charset="0"/>
                <a:ea typeface="Consolas" pitchFamily="34" charset="-122"/>
                <a:cs typeface="Consolas" pitchFamily="34" charset="-120"/>
              </a:rPr>
              <a:t>1. Open:  github.com/thedataflowcompany/the-science-repository</a:t>
            </a:r>
            <a:endParaRPr lang="en-US" sz="925" dirty="0"/>
          </a:p>
          <a:p>
            <a:pPr marL="0" indent="0" algn="l">
              <a:lnSpc>
                <a:spcPct val="112000"/>
              </a:lnSpc>
              <a:buNone/>
            </a:pPr>
            <a:r>
              <a:rPr lang="en-US" sz="925" dirty="0">
                <a:solidFill>
                  <a:srgbClr val="243748"/>
                </a:solidFill>
                <a:latin typeface="Consolas" pitchFamily="34" charset="0"/>
                <a:ea typeface="Consolas" pitchFamily="34" charset="-122"/>
                <a:cs typeface="Consolas" pitchFamily="34" charset="-120"/>
              </a:rPr>
              <a:t>2. Click  "Fork"  (top right)</a:t>
            </a:r>
            <a:endParaRPr lang="en-US" sz="925" dirty="0"/>
          </a:p>
          <a:p>
            <a:pPr marL="0" indent="0" algn="l">
              <a:lnSpc>
                <a:spcPct val="112000"/>
              </a:lnSpc>
              <a:buNone/>
            </a:pPr>
            <a:r>
              <a:rPr lang="en-US" sz="925" dirty="0">
                <a:solidFill>
                  <a:srgbClr val="243748"/>
                </a:solidFill>
                <a:latin typeface="Consolas" pitchFamily="34" charset="0"/>
                <a:ea typeface="Consolas" pitchFamily="34" charset="-122"/>
                <a:cs typeface="Consolas" pitchFamily="34" charset="-120"/>
              </a:rPr>
              <a:t>3. Keep the name, click "Create fork"</a:t>
            </a:r>
            <a:endParaRPr lang="en-US" sz="925" dirty="0"/>
          </a:p>
          <a:p>
            <a:pPr marL="0" indent="0" algn="l">
              <a:lnSpc>
                <a:spcPct val="112000"/>
              </a:lnSpc>
              <a:buNone/>
            </a:pPr>
            <a:r>
              <a:rPr lang="en-US" sz="925" dirty="0">
                <a:solidFill>
                  <a:srgbClr val="243748"/>
                </a:solidFill>
                <a:latin typeface="Consolas" pitchFamily="34" charset="0"/>
                <a:ea typeface="Consolas" pitchFamily="34" charset="-122"/>
                <a:cs typeface="Consolas" pitchFamily="34" charset="-120"/>
              </a:rPr>
              <a:t>4. You now have:  github.com/&lt;your-awesome-username&gt;/the-science-repository</a:t>
            </a:r>
            <a:endParaRPr lang="en-US" sz="925" dirty="0"/>
          </a:p>
        </p:txBody>
      </p:sp>
      <p:sp>
        <p:nvSpPr>
          <p:cNvPr id="9" name="Shape 7"/>
          <p:cNvSpPr/>
          <p:nvPr/>
        </p:nvSpPr>
        <p:spPr>
          <a:xfrm>
            <a:off x="640080" y="2750820"/>
            <a:ext cx="10911535" cy="770255"/>
          </a:xfrm>
          <a:prstGeom prst="roundRect">
            <a:avLst>
              <a:gd name="adj" fmla="val 7123"/>
            </a:avLst>
          </a:prstGeom>
          <a:solidFill>
            <a:srgbClr val="E7F1F0"/>
          </a:solidFill>
          <a:ln/>
        </p:spPr>
        <p:txBody>
          <a:bodyPr/>
          <a:lstStyle/>
          <a:p>
            <a:endParaRPr lang="en-NL"/>
          </a:p>
        </p:txBody>
      </p:sp>
      <p:sp>
        <p:nvSpPr>
          <p:cNvPr id="10" name="Text 8"/>
          <p:cNvSpPr/>
          <p:nvPr/>
        </p:nvSpPr>
        <p:spPr>
          <a:xfrm>
            <a:off x="914400" y="2750820"/>
            <a:ext cx="10362895" cy="770255"/>
          </a:xfrm>
          <a:prstGeom prst="rect">
            <a:avLst/>
          </a:prstGeom>
          <a:noFill/>
          <a:ln/>
        </p:spPr>
        <p:txBody>
          <a:bodyPr wrap="square" rtlCol="0" anchor="ctr"/>
          <a:lstStyle/>
          <a:p>
            <a:pPr marL="0" indent="0" algn="ctr">
              <a:buNone/>
            </a:pPr>
            <a:r>
              <a:rPr lang="en-US" sz="1225" i="1" dirty="0">
                <a:solidFill>
                  <a:srgbClr val="0E7C7B"/>
                </a:solidFill>
                <a:latin typeface="Georgia" pitchFamily="34" charset="0"/>
                <a:ea typeface="Georgia" pitchFamily="34" charset="-122"/>
                <a:cs typeface="Georgia" pitchFamily="34" charset="-120"/>
              </a:rPr>
              <a:t>A fork is your own independent copy. You can change it freely</a:t>
            </a:r>
            <a:endParaRPr lang="en-US" sz="1225" dirty="0"/>
          </a:p>
          <a:p>
            <a:pPr marL="0" indent="0" algn="ctr">
              <a:buNone/>
            </a:pPr>
            <a:r>
              <a:rPr lang="en-US" sz="1225" i="1" dirty="0">
                <a:solidFill>
                  <a:srgbClr val="0E7C7B"/>
                </a:solidFill>
                <a:latin typeface="Georgia" pitchFamily="34" charset="0"/>
                <a:ea typeface="Georgia" pitchFamily="34" charset="-122"/>
                <a:cs typeface="Georgia" pitchFamily="34" charset="-120"/>
              </a:rPr>
              <a:t>without touching the original.</a:t>
            </a:r>
            <a:endParaRPr lang="en-US" sz="1225" dirty="0"/>
          </a:p>
        </p:txBody>
      </p:sp>
      <p:sp>
        <p:nvSpPr>
          <p:cNvPr id="11" name="Shape 9"/>
          <p:cNvSpPr/>
          <p:nvPr/>
        </p:nvSpPr>
        <p:spPr>
          <a:xfrm>
            <a:off x="640080" y="3667379"/>
            <a:ext cx="10911535" cy="1013841"/>
          </a:xfrm>
          <a:prstGeom prst="rect">
            <a:avLst/>
          </a:prstGeom>
          <a:solidFill>
            <a:srgbClr val="FBF0DA"/>
          </a:solidFill>
          <a:ln/>
        </p:spPr>
        <p:txBody>
          <a:bodyPr/>
          <a:lstStyle/>
          <a:p>
            <a:endParaRPr lang="en-NL"/>
          </a:p>
        </p:txBody>
      </p:sp>
      <p:sp>
        <p:nvSpPr>
          <p:cNvPr id="12" name="Shape 10"/>
          <p:cNvSpPr/>
          <p:nvPr/>
        </p:nvSpPr>
        <p:spPr>
          <a:xfrm>
            <a:off x="640080" y="3667379"/>
            <a:ext cx="64008" cy="1013841"/>
          </a:xfrm>
          <a:prstGeom prst="rect">
            <a:avLst/>
          </a:prstGeom>
          <a:solidFill>
            <a:srgbClr val="9C5A00"/>
          </a:solidFill>
          <a:ln/>
        </p:spPr>
        <p:txBody>
          <a:bodyPr/>
          <a:lstStyle/>
          <a:p>
            <a:endParaRPr lang="en-NL"/>
          </a:p>
        </p:txBody>
      </p:sp>
      <p:sp>
        <p:nvSpPr>
          <p:cNvPr id="13" name="Text 11"/>
          <p:cNvSpPr/>
          <p:nvPr/>
        </p:nvSpPr>
        <p:spPr>
          <a:xfrm>
            <a:off x="877824" y="3740531"/>
            <a:ext cx="10527487" cy="237744"/>
          </a:xfrm>
          <a:prstGeom prst="rect">
            <a:avLst/>
          </a:prstGeom>
          <a:noFill/>
          <a:ln/>
        </p:spPr>
        <p:txBody>
          <a:bodyPr wrap="square" rtlCol="0" anchor="ctr"/>
          <a:lstStyle/>
          <a:p>
            <a:pPr marL="0" indent="0">
              <a:buNone/>
            </a:pPr>
            <a:r>
              <a:rPr lang="en-US" sz="1050" b="1" kern="0" spc="150" dirty="0">
                <a:solidFill>
                  <a:srgbClr val="9C5A00"/>
                </a:solidFill>
                <a:latin typeface="Calibri" pitchFamily="34" charset="0"/>
                <a:ea typeface="Calibri" pitchFamily="34" charset="-122"/>
                <a:cs typeface="Calibri" pitchFamily="34" charset="-120"/>
              </a:rPr>
              <a:t>⚠  WATCH OUT (COMMON BLOCKERS)</a:t>
            </a:r>
            <a:endParaRPr lang="en-US" sz="1050" dirty="0"/>
          </a:p>
        </p:txBody>
      </p:sp>
      <p:sp>
        <p:nvSpPr>
          <p:cNvPr id="14" name="Text 12"/>
          <p:cNvSpPr/>
          <p:nvPr/>
        </p:nvSpPr>
        <p:spPr>
          <a:xfrm>
            <a:off x="877824" y="3996563"/>
            <a:ext cx="10527487" cy="556641"/>
          </a:xfrm>
          <a:prstGeom prst="rect">
            <a:avLst/>
          </a:prstGeom>
          <a:noFill/>
          <a:ln/>
        </p:spPr>
        <p:txBody>
          <a:bodyPr wrap="square" rtlCol="0" anchor="t"/>
          <a:lstStyle/>
          <a:p>
            <a:pPr marL="0" indent="0">
              <a:lnSpc>
                <a:spcPct val="112000"/>
              </a:lnSpc>
              <a:buNone/>
            </a:pPr>
            <a:r>
              <a:rPr lang="en-US" sz="825" dirty="0">
                <a:solidFill>
                  <a:srgbClr val="243748"/>
                </a:solidFill>
                <a:latin typeface="Consolas" pitchFamily="34" charset="0"/>
                <a:ea typeface="Consolas" pitchFamily="34" charset="-122"/>
                <a:cs typeface="Consolas" pitchFamily="34" charset="-120"/>
              </a:rPr>
              <a:t>- If you've forked this repo before, GitHub won't fork it twice —</a:t>
            </a:r>
            <a:endParaRPr lang="en-US" sz="825" dirty="0"/>
          </a:p>
          <a:p>
            <a:pPr marL="0" indent="0">
              <a:lnSpc>
                <a:spcPct val="112000"/>
              </a:lnSpc>
              <a:buNone/>
            </a:pPr>
            <a:r>
              <a:rPr lang="en-US" sz="825" dirty="0">
                <a:solidFill>
                  <a:srgbClr val="243748"/>
                </a:solidFill>
                <a:latin typeface="Consolas" pitchFamily="34" charset="0"/>
                <a:ea typeface="Consolas" pitchFamily="34" charset="-122"/>
                <a:cs typeface="Consolas" pitchFamily="34" charset="-120"/>
              </a:rPr>
              <a:t>  just open your existing copy.</a:t>
            </a:r>
            <a:endParaRPr lang="en-US" sz="825" dirty="0"/>
          </a:p>
          <a:p>
            <a:pPr marL="0" indent="0">
              <a:lnSpc>
                <a:spcPct val="112000"/>
              </a:lnSpc>
              <a:buNone/>
            </a:pPr>
            <a:r>
              <a:rPr lang="en-US" sz="825" dirty="0">
                <a:solidFill>
                  <a:srgbClr val="243748"/>
                </a:solidFill>
                <a:latin typeface="Consolas" pitchFamily="34" charset="0"/>
                <a:ea typeface="Consolas" pitchFamily="34" charset="-122"/>
                <a:cs typeface="Consolas" pitchFamily="34" charset="-120"/>
              </a:rPr>
              <a:t>- Don't accidentally fork into an organisation; fork into your own account.</a:t>
            </a:r>
            <a:endParaRPr lang="en-US" sz="825" dirty="0"/>
          </a:p>
        </p:txBody>
      </p:sp>
      <p:sp>
        <p:nvSpPr>
          <p:cNvPr id="15" name="Shape 13"/>
          <p:cNvSpPr/>
          <p:nvPr/>
        </p:nvSpPr>
        <p:spPr>
          <a:xfrm>
            <a:off x="640080" y="4827524"/>
            <a:ext cx="10911535" cy="1479042"/>
          </a:xfrm>
          <a:prstGeom prst="rect">
            <a:avLst/>
          </a:prstGeom>
          <a:solidFill>
            <a:srgbClr val="EDF0F3"/>
          </a:solidFill>
          <a:ln/>
        </p:spPr>
        <p:txBody>
          <a:bodyPr/>
          <a:lstStyle/>
          <a:p>
            <a:endParaRPr lang="en-NL"/>
          </a:p>
        </p:txBody>
      </p:sp>
      <p:sp>
        <p:nvSpPr>
          <p:cNvPr id="16" name="Shape 14"/>
          <p:cNvSpPr/>
          <p:nvPr/>
        </p:nvSpPr>
        <p:spPr>
          <a:xfrm>
            <a:off x="640080" y="4827524"/>
            <a:ext cx="64008" cy="1479042"/>
          </a:xfrm>
          <a:prstGeom prst="rect">
            <a:avLst/>
          </a:prstGeom>
          <a:solidFill>
            <a:srgbClr val="5A6B7B"/>
          </a:solidFill>
          <a:ln/>
        </p:spPr>
        <p:txBody>
          <a:bodyPr/>
          <a:lstStyle/>
          <a:p>
            <a:endParaRPr lang="en-NL"/>
          </a:p>
        </p:txBody>
      </p:sp>
      <p:sp>
        <p:nvSpPr>
          <p:cNvPr id="17" name="Text 15"/>
          <p:cNvSpPr/>
          <p:nvPr/>
        </p:nvSpPr>
        <p:spPr>
          <a:xfrm>
            <a:off x="877824" y="4900676"/>
            <a:ext cx="10527487" cy="237744"/>
          </a:xfrm>
          <a:prstGeom prst="rect">
            <a:avLst/>
          </a:prstGeom>
          <a:noFill/>
          <a:ln/>
        </p:spPr>
        <p:txBody>
          <a:bodyPr wrap="square" rtlCol="0" anchor="ctr"/>
          <a:lstStyle/>
          <a:p>
            <a:pPr marL="0" indent="0">
              <a:buNone/>
            </a:pPr>
            <a:r>
              <a:rPr lang="en-US" sz="1050" b="1" kern="0" spc="150" dirty="0">
                <a:solidFill>
                  <a:srgbClr val="5A6B7B"/>
                </a:solidFill>
                <a:latin typeface="Calibri" pitchFamily="34" charset="0"/>
                <a:ea typeface="Calibri" pitchFamily="34" charset="-122"/>
                <a:cs typeface="Calibri" pitchFamily="34" charset="-120"/>
              </a:rPr>
              <a:t>LATER — STARTING YOUR OWN PROJECT (NOT TODAY)</a:t>
            </a:r>
            <a:endParaRPr lang="en-US" sz="1050" dirty="0"/>
          </a:p>
        </p:txBody>
      </p:sp>
      <p:sp>
        <p:nvSpPr>
          <p:cNvPr id="18" name="Text 16"/>
          <p:cNvSpPr/>
          <p:nvPr/>
        </p:nvSpPr>
        <p:spPr>
          <a:xfrm>
            <a:off x="877824" y="5156708"/>
            <a:ext cx="10527487" cy="1021842"/>
          </a:xfrm>
          <a:prstGeom prst="rect">
            <a:avLst/>
          </a:prstGeom>
          <a:noFill/>
          <a:ln/>
        </p:spPr>
        <p:txBody>
          <a:bodyPr wrap="square" rtlCol="0" anchor="t"/>
          <a:lstStyle/>
          <a:p>
            <a:pPr marL="0" indent="0">
              <a:lnSpc>
                <a:spcPct val="112000"/>
              </a:lnSpc>
              <a:buNone/>
            </a:pPr>
            <a:r>
              <a:rPr lang="en-US" sz="825" dirty="0">
                <a:solidFill>
                  <a:srgbClr val="243748"/>
                </a:solidFill>
                <a:latin typeface="Consolas" pitchFamily="34" charset="0"/>
                <a:ea typeface="Consolas" pitchFamily="34" charset="-122"/>
                <a:cs typeface="Consolas" pitchFamily="34" charset="-120"/>
              </a:rPr>
              <a:t>Forking keeps a visible link to this template — ideal for the workshop.</a:t>
            </a:r>
            <a:endParaRPr lang="en-US" sz="825" dirty="0"/>
          </a:p>
          <a:p>
            <a:pPr marL="0" indent="0">
              <a:lnSpc>
                <a:spcPct val="112000"/>
              </a:lnSpc>
              <a:buNone/>
            </a:pPr>
            <a:r>
              <a:rPr lang="en-US" sz="825" dirty="0">
                <a:solidFill>
                  <a:srgbClr val="243748"/>
                </a:solidFill>
                <a:latin typeface="Consolas" pitchFamily="34" charset="0"/>
                <a:ea typeface="Consolas" pitchFamily="34" charset="-122"/>
                <a:cs typeface="Consolas" pitchFamily="34" charset="-120"/>
              </a:rPr>
              <a:t>For your own real project, start a clean, independent repo instead:</a:t>
            </a:r>
            <a:endParaRPr lang="en-US" sz="825" dirty="0"/>
          </a:p>
          <a:p>
            <a:pPr marL="0" indent="0">
              <a:lnSpc>
                <a:spcPct val="112000"/>
              </a:lnSpc>
              <a:buNone/>
            </a:pPr>
            <a:r>
              <a:rPr lang="en-US" sz="825" dirty="0">
                <a:solidFill>
                  <a:srgbClr val="243748"/>
                </a:solidFill>
                <a:latin typeface="Consolas" pitchFamily="34" charset="0"/>
                <a:ea typeface="Consolas" pitchFamily="34" charset="-122"/>
                <a:cs typeface="Consolas" pitchFamily="34" charset="-120"/>
              </a:rPr>
              <a:t>  1. Code → Download ZIP   (a snapshot with no fork link)</a:t>
            </a:r>
            <a:endParaRPr lang="en-US" sz="825" dirty="0"/>
          </a:p>
          <a:p>
            <a:pPr marL="0" indent="0">
              <a:lnSpc>
                <a:spcPct val="112000"/>
              </a:lnSpc>
              <a:buNone/>
            </a:pPr>
            <a:r>
              <a:rPr lang="en-US" sz="825" dirty="0">
                <a:solidFill>
                  <a:srgbClr val="243748"/>
                </a:solidFill>
                <a:latin typeface="Consolas" pitchFamily="34" charset="0"/>
                <a:ea typeface="Consolas" pitchFamily="34" charset="-122"/>
                <a:cs typeface="Consolas" pitchFamily="34" charset="-120"/>
              </a:rPr>
              <a:t>  2. Create a NEW repo on GitHub — public, or private if your data or project demands it</a:t>
            </a:r>
            <a:endParaRPr lang="en-US" sz="825" dirty="0"/>
          </a:p>
          <a:p>
            <a:pPr marL="0" indent="0">
              <a:lnSpc>
                <a:spcPct val="112000"/>
              </a:lnSpc>
              <a:buNone/>
            </a:pPr>
            <a:r>
              <a:rPr lang="en-US" sz="825" dirty="0">
                <a:solidFill>
                  <a:srgbClr val="243748"/>
                </a:solidFill>
                <a:latin typeface="Consolas" pitchFamily="34" charset="0"/>
                <a:ea typeface="Consolas" pitchFamily="34" charset="-122"/>
                <a:cs typeface="Consolas" pitchFamily="34" charset="-120"/>
              </a:rPr>
              <a:t>  3. Copy the files in, commit, and push</a:t>
            </a:r>
            <a:endParaRPr lang="en-US" sz="825" dirty="0"/>
          </a:p>
          <a:p>
            <a:pPr marL="0" indent="0">
              <a:lnSpc>
                <a:spcPct val="112000"/>
              </a:lnSpc>
              <a:buNone/>
            </a:pPr>
            <a:r>
              <a:rPr lang="en-US" sz="825" dirty="0">
                <a:solidFill>
                  <a:srgbClr val="243748"/>
                </a:solidFill>
                <a:latin typeface="Consolas" pitchFamily="34" charset="0"/>
                <a:ea typeface="Consolas" pitchFamily="34" charset="-122"/>
                <a:cs typeface="Consolas" pitchFamily="34" charset="-120"/>
              </a:rPr>
              <a:t>Today we all stay on the public fork.</a:t>
            </a:r>
            <a:endParaRPr lang="en-US" sz="8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B · GITHUB FIRST</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Two ways to make a copy — for different reasons</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640080" y="1691640"/>
            <a:ext cx="10911535" cy="1876806"/>
          </a:xfrm>
          <a:prstGeom prst="rect">
            <a:avLst/>
          </a:prstGeom>
          <a:solidFill>
            <a:srgbClr val="F1F4F7"/>
          </a:solidFill>
          <a:ln/>
        </p:spPr>
        <p:txBody>
          <a:bodyPr/>
          <a:lstStyle/>
          <a:p>
            <a:endParaRPr lang="en-NL"/>
          </a:p>
        </p:txBody>
      </p:sp>
      <p:sp>
        <p:nvSpPr>
          <p:cNvPr id="7" name="Shape 5"/>
          <p:cNvSpPr/>
          <p:nvPr/>
        </p:nvSpPr>
        <p:spPr>
          <a:xfrm>
            <a:off x="640080" y="1691640"/>
            <a:ext cx="64008" cy="1876806"/>
          </a:xfrm>
          <a:prstGeom prst="rect">
            <a:avLst/>
          </a:prstGeom>
          <a:solidFill>
            <a:srgbClr val="0E7C7B"/>
          </a:solidFill>
          <a:ln/>
        </p:spPr>
        <p:txBody>
          <a:bodyPr/>
          <a:lstStyle/>
          <a:p>
            <a:endParaRPr lang="en-NL"/>
          </a:p>
        </p:txBody>
      </p:sp>
      <p:sp>
        <p:nvSpPr>
          <p:cNvPr id="8" name="Text 6"/>
          <p:cNvSpPr/>
          <p:nvPr/>
        </p:nvSpPr>
        <p:spPr>
          <a:xfrm>
            <a:off x="877824" y="1837944"/>
            <a:ext cx="10527487" cy="1584198"/>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Fork    an independent copy under YOUR account</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your own project, evolves on its own</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optional: contribute changes back to the original</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Branch  a parallel line of work INSIDE one repo</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meant to be merged back into that same repo</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how teammates work in parallel without clashing (Day 2)</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B · GITHUB FIRST    ·    EXERCISE · STEP 3</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Step 3 — publish your analysis website</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640080" y="1691640"/>
            <a:ext cx="10911535" cy="1650492"/>
          </a:xfrm>
          <a:prstGeom prst="rect">
            <a:avLst/>
          </a:prstGeom>
          <a:solidFill>
            <a:srgbClr val="F1F4F7"/>
          </a:solidFill>
          <a:ln/>
        </p:spPr>
        <p:txBody>
          <a:bodyPr/>
          <a:lstStyle/>
          <a:p>
            <a:endParaRPr lang="en-NL"/>
          </a:p>
        </p:txBody>
      </p:sp>
      <p:sp>
        <p:nvSpPr>
          <p:cNvPr id="7" name="Shape 5"/>
          <p:cNvSpPr/>
          <p:nvPr/>
        </p:nvSpPr>
        <p:spPr>
          <a:xfrm>
            <a:off x="640080" y="1691640"/>
            <a:ext cx="64008" cy="1650492"/>
          </a:xfrm>
          <a:prstGeom prst="rect">
            <a:avLst/>
          </a:prstGeom>
          <a:solidFill>
            <a:srgbClr val="0E7C7B"/>
          </a:solidFill>
          <a:ln/>
        </p:spPr>
        <p:txBody>
          <a:bodyPr/>
          <a:lstStyle/>
          <a:p>
            <a:endParaRPr lang="en-NL"/>
          </a:p>
        </p:txBody>
      </p:sp>
      <p:sp>
        <p:nvSpPr>
          <p:cNvPr id="8" name="Text 6"/>
          <p:cNvSpPr/>
          <p:nvPr/>
        </p:nvSpPr>
        <p:spPr>
          <a:xfrm>
            <a:off x="877824" y="1837944"/>
            <a:ext cx="10527487" cy="1357884"/>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In YOUR fork on GitHub:</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1. Settings → Pages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2. Source: "Deploy from a branch"</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3. Branch: main   ·   Folder: / (root)   → Save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4. Wait ~1 minute, then open:</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https://&lt;your-username&gt;.github.io/the-science-repository/renders/webpage/</a:t>
            </a:r>
            <a:endParaRPr lang="en-US" sz="1350" dirty="0"/>
          </a:p>
        </p:txBody>
      </p:sp>
      <p:sp>
        <p:nvSpPr>
          <p:cNvPr id="9" name="Shape 7"/>
          <p:cNvSpPr/>
          <p:nvPr/>
        </p:nvSpPr>
        <p:spPr>
          <a:xfrm>
            <a:off x="640080" y="3488436"/>
            <a:ext cx="10911535" cy="1680210"/>
          </a:xfrm>
          <a:prstGeom prst="rect">
            <a:avLst/>
          </a:prstGeom>
          <a:solidFill>
            <a:srgbClr val="FBF0DA"/>
          </a:solidFill>
          <a:ln/>
        </p:spPr>
        <p:txBody>
          <a:bodyPr/>
          <a:lstStyle/>
          <a:p>
            <a:endParaRPr lang="en-NL"/>
          </a:p>
        </p:txBody>
      </p:sp>
      <p:sp>
        <p:nvSpPr>
          <p:cNvPr id="10" name="Shape 8"/>
          <p:cNvSpPr/>
          <p:nvPr/>
        </p:nvSpPr>
        <p:spPr>
          <a:xfrm>
            <a:off x="640080" y="3488436"/>
            <a:ext cx="64008" cy="1680210"/>
          </a:xfrm>
          <a:prstGeom prst="rect">
            <a:avLst/>
          </a:prstGeom>
          <a:solidFill>
            <a:srgbClr val="9C5A00"/>
          </a:solidFill>
          <a:ln/>
        </p:spPr>
        <p:txBody>
          <a:bodyPr/>
          <a:lstStyle/>
          <a:p>
            <a:endParaRPr lang="en-NL"/>
          </a:p>
        </p:txBody>
      </p:sp>
      <p:sp>
        <p:nvSpPr>
          <p:cNvPr id="11" name="Text 9"/>
          <p:cNvSpPr/>
          <p:nvPr/>
        </p:nvSpPr>
        <p:spPr>
          <a:xfrm>
            <a:off x="877824" y="3561588"/>
            <a:ext cx="10527487" cy="237744"/>
          </a:xfrm>
          <a:prstGeom prst="rect">
            <a:avLst/>
          </a:prstGeom>
          <a:noFill/>
          <a:ln/>
        </p:spPr>
        <p:txBody>
          <a:bodyPr wrap="square" rtlCol="0" anchor="ctr"/>
          <a:lstStyle/>
          <a:p>
            <a:pPr marL="0" indent="0">
              <a:buNone/>
            </a:pPr>
            <a:r>
              <a:rPr lang="en-US" sz="1050" b="1" kern="0" spc="150" dirty="0">
                <a:solidFill>
                  <a:srgbClr val="9C5A00"/>
                </a:solidFill>
                <a:latin typeface="Calibri" pitchFamily="34" charset="0"/>
                <a:ea typeface="Calibri" pitchFamily="34" charset="-122"/>
                <a:cs typeface="Calibri" pitchFamily="34" charset="-120"/>
              </a:rPr>
              <a:t>⚠  WATCH OUT (COMMON BLOCKERS)</a:t>
            </a:r>
            <a:endParaRPr lang="en-US" sz="1050" dirty="0"/>
          </a:p>
        </p:txBody>
      </p:sp>
      <p:sp>
        <p:nvSpPr>
          <p:cNvPr id="12" name="Text 10"/>
          <p:cNvSpPr/>
          <p:nvPr/>
        </p:nvSpPr>
        <p:spPr>
          <a:xfrm>
            <a:off x="877824" y="3817620"/>
            <a:ext cx="10527487" cy="1223010"/>
          </a:xfrm>
          <a:prstGeom prst="rect">
            <a:avLst/>
          </a:prstGeom>
          <a:noFill/>
          <a:ln/>
        </p:spPr>
        <p:txBody>
          <a:bodyPr wrap="square" rtlCol="0" anchor="t"/>
          <a:lstStyle/>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GitHub Pages on a FREE account needs a PUBLIC repo. Your fork of a public</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template is public by default, so you're fine. A private repo needs</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GitHub Pro / Education for Pages.</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First build takes 1–2 minutes. A 404 usually means the build isn't done</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yet, or the URL is wrong — it must end with  /renders/webpage/ .</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B · GITHUB FIRST    ·    EXERCISE · STEP 4</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Step 4 — edit the README link and commit</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640080" y="1691640"/>
            <a:ext cx="10911535" cy="1876806"/>
          </a:xfrm>
          <a:prstGeom prst="rect">
            <a:avLst/>
          </a:prstGeom>
          <a:solidFill>
            <a:srgbClr val="F1F4F7"/>
          </a:solidFill>
          <a:ln/>
        </p:spPr>
        <p:txBody>
          <a:bodyPr/>
          <a:lstStyle/>
          <a:p>
            <a:endParaRPr lang="en-NL"/>
          </a:p>
        </p:txBody>
      </p:sp>
      <p:sp>
        <p:nvSpPr>
          <p:cNvPr id="7" name="Shape 5"/>
          <p:cNvSpPr/>
          <p:nvPr/>
        </p:nvSpPr>
        <p:spPr>
          <a:xfrm>
            <a:off x="640080" y="1691640"/>
            <a:ext cx="64008" cy="1876806"/>
          </a:xfrm>
          <a:prstGeom prst="rect">
            <a:avLst/>
          </a:prstGeom>
          <a:solidFill>
            <a:srgbClr val="0E7C7B"/>
          </a:solidFill>
          <a:ln/>
        </p:spPr>
        <p:txBody>
          <a:bodyPr/>
          <a:lstStyle/>
          <a:p>
            <a:endParaRPr lang="en-NL"/>
          </a:p>
        </p:txBody>
      </p:sp>
      <p:sp>
        <p:nvSpPr>
          <p:cNvPr id="8" name="Text 6"/>
          <p:cNvSpPr/>
          <p:nvPr/>
        </p:nvSpPr>
        <p:spPr>
          <a:xfrm>
            <a:off x="877824" y="1837944"/>
            <a:ext cx="10527487" cy="1584198"/>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The README points to the project's website. Make it point to YOURS.</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1. Open README.md on GitHub → click the pencil (edit)</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2. Find the website link near the top</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3. Replace the URL with your own github.io address (from the previous step)</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4. Scroll down → "Commit changes"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Message:  "Point website link to my fork"</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B · GITHUB FIRST</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What just happened, visually</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640080" y="1691640"/>
            <a:ext cx="10911535" cy="1424178"/>
          </a:xfrm>
          <a:prstGeom prst="rect">
            <a:avLst/>
          </a:prstGeom>
          <a:solidFill>
            <a:srgbClr val="F1F4F7"/>
          </a:solidFill>
          <a:ln/>
        </p:spPr>
        <p:txBody>
          <a:bodyPr/>
          <a:lstStyle/>
          <a:p>
            <a:endParaRPr lang="en-NL"/>
          </a:p>
        </p:txBody>
      </p:sp>
      <p:sp>
        <p:nvSpPr>
          <p:cNvPr id="7" name="Shape 5"/>
          <p:cNvSpPr/>
          <p:nvPr/>
        </p:nvSpPr>
        <p:spPr>
          <a:xfrm>
            <a:off x="640080" y="1691640"/>
            <a:ext cx="64008" cy="1424178"/>
          </a:xfrm>
          <a:prstGeom prst="rect">
            <a:avLst/>
          </a:prstGeom>
          <a:solidFill>
            <a:srgbClr val="0E7C7B"/>
          </a:solidFill>
          <a:ln/>
        </p:spPr>
        <p:txBody>
          <a:bodyPr/>
          <a:lstStyle/>
          <a:p>
            <a:endParaRPr lang="en-NL"/>
          </a:p>
        </p:txBody>
      </p:sp>
      <p:sp>
        <p:nvSpPr>
          <p:cNvPr id="8" name="Text 6"/>
          <p:cNvSpPr/>
          <p:nvPr/>
        </p:nvSpPr>
        <p:spPr>
          <a:xfrm>
            <a:off x="877824" y="1837944"/>
            <a:ext cx="10527487" cy="1131570"/>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template repo  ──fork──▶  your repo  ──commit──▶  your repo (new snapshot)</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GitHub Pages rebuilds your site</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Later (Day 2): branch ──▶ work ──▶ merge back into main</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B · GITHUB FIRST</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Data protection checkpoint</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640080" y="1691640"/>
            <a:ext cx="10911535" cy="2329434"/>
          </a:xfrm>
          <a:prstGeom prst="rect">
            <a:avLst/>
          </a:prstGeom>
          <a:solidFill>
            <a:srgbClr val="F1F4F7"/>
          </a:solidFill>
          <a:ln/>
        </p:spPr>
        <p:txBody>
          <a:bodyPr/>
          <a:lstStyle/>
          <a:p>
            <a:endParaRPr lang="en-NL"/>
          </a:p>
        </p:txBody>
      </p:sp>
      <p:sp>
        <p:nvSpPr>
          <p:cNvPr id="7" name="Shape 5"/>
          <p:cNvSpPr/>
          <p:nvPr/>
        </p:nvSpPr>
        <p:spPr>
          <a:xfrm>
            <a:off x="640080" y="1691640"/>
            <a:ext cx="64008" cy="2329434"/>
          </a:xfrm>
          <a:prstGeom prst="rect">
            <a:avLst/>
          </a:prstGeom>
          <a:solidFill>
            <a:srgbClr val="0E7C7B"/>
          </a:solidFill>
          <a:ln/>
        </p:spPr>
        <p:txBody>
          <a:bodyPr/>
          <a:lstStyle/>
          <a:p>
            <a:endParaRPr lang="en-NL"/>
          </a:p>
        </p:txBody>
      </p:sp>
      <p:sp>
        <p:nvSpPr>
          <p:cNvPr id="8" name="Text 6"/>
          <p:cNvSpPr/>
          <p:nvPr/>
        </p:nvSpPr>
        <p:spPr>
          <a:xfrm>
            <a:off x="877824" y="1837944"/>
            <a:ext cx="10527487" cy="2036826"/>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Usually safe to commit:        Usually NOT safe: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scripts / code                 real / identifiable participant data</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README &amp; docs                  passwords, tokens, API keys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mock (synthetic) data          ethics docs with sensitive details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rendered outputs               anything confidential</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Rule of thumb:</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Scripts can be shared.  Raw data usually cannot.</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Outputs depend on whether anyone can be identified.</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B · GITHUB FIRST</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Real data can't be committed by accident</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640080" y="1691640"/>
            <a:ext cx="10911535" cy="1424178"/>
          </a:xfrm>
          <a:prstGeom prst="rect">
            <a:avLst/>
          </a:prstGeom>
          <a:solidFill>
            <a:srgbClr val="F1F4F7"/>
          </a:solidFill>
          <a:ln/>
        </p:spPr>
        <p:txBody>
          <a:bodyPr/>
          <a:lstStyle/>
          <a:p>
            <a:endParaRPr lang="en-NL"/>
          </a:p>
        </p:txBody>
      </p:sp>
      <p:sp>
        <p:nvSpPr>
          <p:cNvPr id="7" name="Shape 5"/>
          <p:cNvSpPr/>
          <p:nvPr/>
        </p:nvSpPr>
        <p:spPr>
          <a:xfrm>
            <a:off x="640080" y="1691640"/>
            <a:ext cx="64008" cy="1424178"/>
          </a:xfrm>
          <a:prstGeom prst="rect">
            <a:avLst/>
          </a:prstGeom>
          <a:solidFill>
            <a:srgbClr val="0E7C7B"/>
          </a:solidFill>
          <a:ln/>
        </p:spPr>
        <p:txBody>
          <a:bodyPr/>
          <a:lstStyle/>
          <a:p>
            <a:endParaRPr lang="en-NL"/>
          </a:p>
        </p:txBody>
      </p:sp>
      <p:sp>
        <p:nvSpPr>
          <p:cNvPr id="8" name="Text 6"/>
          <p:cNvSpPr/>
          <p:nvPr/>
        </p:nvSpPr>
        <p:spPr>
          <a:xfrm>
            <a:off x="877824" y="1837944"/>
            <a:ext cx="10527487" cy="1131570"/>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data/mock/        committed     (synthetic, safe — everyone uses this today)</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data/raw/         gitignored    (your real data — never leaves your machine)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data/processed/   gitignored    (cleaned data — also stays local)</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.gitignore also blocks common data file types everywhere except mock/.</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C2B3A"/>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E7C7B"/>
          </a:solidFill>
          <a:ln/>
        </p:spPr>
        <p:txBody>
          <a:bodyPr/>
          <a:lstStyle/>
          <a:p>
            <a:endParaRPr lang="en-NL"/>
          </a:p>
        </p:txBody>
      </p:sp>
      <p:sp>
        <p:nvSpPr>
          <p:cNvPr id="3" name="Text 1"/>
          <p:cNvSpPr/>
          <p:nvPr/>
        </p:nvSpPr>
        <p:spPr>
          <a:xfrm>
            <a:off x="914400" y="1554480"/>
            <a:ext cx="10362895" cy="365760"/>
          </a:xfrm>
          <a:prstGeom prst="rect">
            <a:avLst/>
          </a:prstGeom>
          <a:noFill/>
          <a:ln/>
        </p:spPr>
        <p:txBody>
          <a:bodyPr wrap="square" rtlCol="0" anchor="ctr"/>
          <a:lstStyle/>
          <a:p>
            <a:pPr marL="0" indent="0" algn="ctr">
              <a:buNone/>
            </a:pPr>
            <a:r>
              <a:rPr lang="en-US" sz="1400" b="1" kern="0" spc="200" dirty="0">
                <a:solidFill>
                  <a:srgbClr val="8FD0CC"/>
                </a:solidFill>
                <a:latin typeface="Calibri" pitchFamily="34" charset="0"/>
                <a:ea typeface="Calibri" pitchFamily="34" charset="-122"/>
                <a:cs typeface="Calibri" pitchFamily="34" charset="-120"/>
              </a:rPr>
              <a:t>BREAK</a:t>
            </a:r>
            <a:endParaRPr lang="en-US" sz="1400" dirty="0"/>
          </a:p>
        </p:txBody>
      </p:sp>
      <p:sp>
        <p:nvSpPr>
          <p:cNvPr id="4" name="Text 2"/>
          <p:cNvSpPr/>
          <p:nvPr/>
        </p:nvSpPr>
        <p:spPr>
          <a:xfrm>
            <a:off x="914400" y="2057400"/>
            <a:ext cx="10362895" cy="822960"/>
          </a:xfrm>
          <a:prstGeom prst="rect">
            <a:avLst/>
          </a:prstGeom>
          <a:noFill/>
          <a:ln/>
        </p:spPr>
        <p:txBody>
          <a:bodyPr wrap="square" rtlCol="0" anchor="ctr"/>
          <a:lstStyle/>
          <a:p>
            <a:pPr marL="0" indent="0" algn="ctr">
              <a:buNone/>
            </a:pPr>
            <a:r>
              <a:rPr lang="en-US" sz="4000" b="1" dirty="0">
                <a:solidFill>
                  <a:srgbClr val="FFFFFF"/>
                </a:solidFill>
                <a:latin typeface="Georgia" pitchFamily="34" charset="0"/>
                <a:ea typeface="Georgia" pitchFamily="34" charset="-122"/>
                <a:cs typeface="Georgia" pitchFamily="34" charset="-120"/>
              </a:rPr>
              <a:t>Coffee break — 10:30–11:00</a:t>
            </a:r>
            <a:endParaRPr lang="en-US" sz="4000" dirty="0"/>
          </a:p>
        </p:txBody>
      </p:sp>
      <p:sp>
        <p:nvSpPr>
          <p:cNvPr id="5" name="Shape 3"/>
          <p:cNvSpPr/>
          <p:nvPr/>
        </p:nvSpPr>
        <p:spPr>
          <a:xfrm>
            <a:off x="2194560" y="3246120"/>
            <a:ext cx="7802575" cy="2468880"/>
          </a:xfrm>
          <a:prstGeom prst="roundRect">
            <a:avLst>
              <a:gd name="adj" fmla="val 2222"/>
            </a:avLst>
          </a:prstGeom>
          <a:solidFill>
            <a:srgbClr val="26384B"/>
          </a:solidFill>
          <a:ln/>
        </p:spPr>
        <p:txBody>
          <a:bodyPr/>
          <a:lstStyle/>
          <a:p>
            <a:endParaRPr lang="en-NL"/>
          </a:p>
        </p:txBody>
      </p:sp>
      <p:sp>
        <p:nvSpPr>
          <p:cNvPr id="6" name="Text 4"/>
          <p:cNvSpPr/>
          <p:nvPr/>
        </p:nvSpPr>
        <p:spPr>
          <a:xfrm>
            <a:off x="2468880" y="3383280"/>
            <a:ext cx="7253935" cy="2194560"/>
          </a:xfrm>
          <a:prstGeom prst="rect">
            <a:avLst/>
          </a:prstGeom>
          <a:noFill/>
          <a:ln/>
        </p:spPr>
        <p:txBody>
          <a:bodyPr wrap="square" rtlCol="0" anchor="ctr"/>
          <a:lstStyle/>
          <a:p>
            <a:pPr marL="0" indent="0" algn="l">
              <a:lnSpc>
                <a:spcPct val="130000"/>
              </a:lnSpc>
              <a:buNone/>
            </a:pPr>
            <a:r>
              <a:rPr lang="en-US" sz="1500" dirty="0">
                <a:solidFill>
                  <a:srgbClr val="DCE7E7"/>
                </a:solidFill>
                <a:latin typeface="Consolas" pitchFamily="34" charset="0"/>
                <a:ea typeface="Consolas" pitchFamily="34" charset="-122"/>
                <a:cs typeface="Consolas" pitchFamily="34" charset="-120"/>
              </a:rPr>
              <a:t>Back at 11:00.</a:t>
            </a:r>
            <a:endParaRPr lang="en-US" sz="1500" dirty="0"/>
          </a:p>
          <a:p>
            <a:pPr marL="0" indent="0" algn="l">
              <a:lnSpc>
                <a:spcPct val="130000"/>
              </a:lnSpc>
              <a:buNone/>
            </a:pPr>
            <a:endParaRPr lang="en-US" sz="1500" dirty="0"/>
          </a:p>
          <a:p>
            <a:pPr marL="0" indent="0" algn="l">
              <a:lnSpc>
                <a:spcPct val="130000"/>
              </a:lnSpc>
              <a:buNone/>
            </a:pPr>
            <a:r>
              <a:rPr lang="en-US" sz="1500" dirty="0">
                <a:solidFill>
                  <a:srgbClr val="DCE7E7"/>
                </a:solidFill>
                <a:latin typeface="Consolas" pitchFamily="34" charset="0"/>
                <a:ea typeface="Consolas" pitchFamily="34" charset="-122"/>
                <a:cs typeface="Consolas" pitchFamily="34" charset="-120"/>
              </a:rPr>
              <a:t>✓ So far: GitHub account · your fork · website live on Pages · first commit</a:t>
            </a:r>
            <a:endParaRPr lang="en-US" sz="1500" dirty="0"/>
          </a:p>
          <a:p>
            <a:pPr marL="0" indent="0" algn="l">
              <a:lnSpc>
                <a:spcPct val="130000"/>
              </a:lnSpc>
              <a:buNone/>
            </a:pPr>
            <a:r>
              <a:rPr lang="en-US" sz="1500" dirty="0">
                <a:solidFill>
                  <a:srgbClr val="DCE7E7"/>
                </a:solidFill>
                <a:latin typeface="Consolas" pitchFamily="34" charset="0"/>
                <a:ea typeface="Consolas" pitchFamily="34" charset="-122"/>
                <a:cs typeface="Consolas" pitchFamily="34" charset="-120"/>
              </a:rPr>
              <a:t>→ Next: install R &amp; RStudio, then clone your fork to your own laptop</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C · R + RSTUDIO</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The engine and the cockpit</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640080" y="1691640"/>
            <a:ext cx="10911535" cy="1424178"/>
          </a:xfrm>
          <a:prstGeom prst="rect">
            <a:avLst/>
          </a:prstGeom>
          <a:solidFill>
            <a:srgbClr val="F1F4F7"/>
          </a:solidFill>
          <a:ln/>
        </p:spPr>
        <p:txBody>
          <a:bodyPr/>
          <a:lstStyle/>
          <a:p>
            <a:endParaRPr lang="en-NL"/>
          </a:p>
        </p:txBody>
      </p:sp>
      <p:sp>
        <p:nvSpPr>
          <p:cNvPr id="7" name="Shape 5"/>
          <p:cNvSpPr/>
          <p:nvPr/>
        </p:nvSpPr>
        <p:spPr>
          <a:xfrm>
            <a:off x="640080" y="1691640"/>
            <a:ext cx="64008" cy="1424178"/>
          </a:xfrm>
          <a:prstGeom prst="rect">
            <a:avLst/>
          </a:prstGeom>
          <a:solidFill>
            <a:srgbClr val="0E7C7B"/>
          </a:solidFill>
          <a:ln/>
        </p:spPr>
        <p:txBody>
          <a:bodyPr/>
          <a:lstStyle/>
          <a:p>
            <a:endParaRPr lang="en-NL"/>
          </a:p>
        </p:txBody>
      </p:sp>
      <p:sp>
        <p:nvSpPr>
          <p:cNvPr id="8" name="Text 6"/>
          <p:cNvSpPr/>
          <p:nvPr/>
        </p:nvSpPr>
        <p:spPr>
          <a:xfrm>
            <a:off x="877824" y="1837944"/>
            <a:ext cx="10527487" cy="1131570"/>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        = the programming language that does the work (the engine)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RStudio  = the environment you work in: write code, see data,</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run scripts, view plots, manage the project (the cockpit)</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You can run R without RStudio — but RStudio makes everything visible.</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C · R + RSTUDIO    ·    EXERCISE · STEP 5</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Step 5 — install the software</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640080" y="1691640"/>
            <a:ext cx="10911535" cy="1424178"/>
          </a:xfrm>
          <a:prstGeom prst="rect">
            <a:avLst/>
          </a:prstGeom>
          <a:solidFill>
            <a:srgbClr val="F1F4F7"/>
          </a:solidFill>
          <a:ln/>
        </p:spPr>
        <p:txBody>
          <a:bodyPr/>
          <a:lstStyle/>
          <a:p>
            <a:endParaRPr lang="en-NL"/>
          </a:p>
        </p:txBody>
      </p:sp>
      <p:sp>
        <p:nvSpPr>
          <p:cNvPr id="7" name="Shape 5"/>
          <p:cNvSpPr/>
          <p:nvPr/>
        </p:nvSpPr>
        <p:spPr>
          <a:xfrm>
            <a:off x="640080" y="1691640"/>
            <a:ext cx="64008" cy="1424178"/>
          </a:xfrm>
          <a:prstGeom prst="rect">
            <a:avLst/>
          </a:prstGeom>
          <a:solidFill>
            <a:srgbClr val="0E7C7B"/>
          </a:solidFill>
          <a:ln/>
        </p:spPr>
        <p:txBody>
          <a:bodyPr/>
          <a:lstStyle/>
          <a:p>
            <a:endParaRPr lang="en-NL"/>
          </a:p>
        </p:txBody>
      </p:sp>
      <p:sp>
        <p:nvSpPr>
          <p:cNvPr id="8" name="Text 6"/>
          <p:cNvSpPr/>
          <p:nvPr/>
        </p:nvSpPr>
        <p:spPr>
          <a:xfrm>
            <a:off x="877824" y="1837944"/>
            <a:ext cx="10527487" cy="1131570"/>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Go to: https://posit.co/download/rstudio-desktop (has links to both)</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1. Install R:        cran.r-project.org   (pick your OS, latest version)</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2. Install RStudio:  posit.co/download/rstudio-desktop  (free Desktop)</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3. Open RStudio — it finds R automatically</a:t>
            </a:r>
            <a:endParaRPr lang="en-US" sz="1350" dirty="0"/>
          </a:p>
        </p:txBody>
      </p:sp>
      <p:sp>
        <p:nvSpPr>
          <p:cNvPr id="9" name="Shape 7"/>
          <p:cNvSpPr/>
          <p:nvPr/>
        </p:nvSpPr>
        <p:spPr>
          <a:xfrm>
            <a:off x="640080" y="3262122"/>
            <a:ext cx="10911535" cy="1001268"/>
          </a:xfrm>
          <a:prstGeom prst="rect">
            <a:avLst/>
          </a:prstGeom>
          <a:solidFill>
            <a:srgbClr val="E7F2EC"/>
          </a:solidFill>
          <a:ln/>
        </p:spPr>
        <p:txBody>
          <a:bodyPr/>
          <a:lstStyle/>
          <a:p>
            <a:endParaRPr lang="en-NL"/>
          </a:p>
        </p:txBody>
      </p:sp>
      <p:sp>
        <p:nvSpPr>
          <p:cNvPr id="10" name="Shape 8"/>
          <p:cNvSpPr/>
          <p:nvPr/>
        </p:nvSpPr>
        <p:spPr>
          <a:xfrm>
            <a:off x="640080" y="3262122"/>
            <a:ext cx="64008" cy="1001268"/>
          </a:xfrm>
          <a:prstGeom prst="rect">
            <a:avLst/>
          </a:prstGeom>
          <a:solidFill>
            <a:srgbClr val="2E7D5B"/>
          </a:solidFill>
          <a:ln/>
        </p:spPr>
        <p:txBody>
          <a:bodyPr/>
          <a:lstStyle/>
          <a:p>
            <a:endParaRPr lang="en-NL"/>
          </a:p>
        </p:txBody>
      </p:sp>
      <p:sp>
        <p:nvSpPr>
          <p:cNvPr id="11" name="Text 9"/>
          <p:cNvSpPr/>
          <p:nvPr/>
        </p:nvSpPr>
        <p:spPr>
          <a:xfrm>
            <a:off x="877824" y="3335274"/>
            <a:ext cx="10527487" cy="237744"/>
          </a:xfrm>
          <a:prstGeom prst="rect">
            <a:avLst/>
          </a:prstGeom>
          <a:noFill/>
          <a:ln/>
        </p:spPr>
        <p:txBody>
          <a:bodyPr wrap="square" rtlCol="0" anchor="ctr"/>
          <a:lstStyle/>
          <a:p>
            <a:pPr marL="0" indent="0">
              <a:buNone/>
            </a:pPr>
            <a:r>
              <a:rPr lang="en-US" sz="1050" b="1" kern="0" spc="150" dirty="0">
                <a:solidFill>
                  <a:srgbClr val="2E7D5B"/>
                </a:solidFill>
                <a:latin typeface="Calibri" pitchFamily="34" charset="0"/>
                <a:ea typeface="Calibri" pitchFamily="34" charset="-122"/>
                <a:cs typeface="Calibri" pitchFamily="34" charset="-120"/>
              </a:rPr>
              <a:t>CHECK</a:t>
            </a:r>
            <a:endParaRPr lang="en-US" sz="1050" dirty="0"/>
          </a:p>
        </p:txBody>
      </p:sp>
      <p:sp>
        <p:nvSpPr>
          <p:cNvPr id="12" name="Text 10"/>
          <p:cNvSpPr/>
          <p:nvPr/>
        </p:nvSpPr>
        <p:spPr>
          <a:xfrm>
            <a:off x="877824" y="3591306"/>
            <a:ext cx="10527487" cy="544068"/>
          </a:xfrm>
          <a:prstGeom prst="rect">
            <a:avLst/>
          </a:prstGeom>
          <a:noFill/>
          <a:ln/>
        </p:spPr>
        <p:txBody>
          <a:bodyPr wrap="square" rtlCol="0" anchor="t"/>
          <a:lstStyle/>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Does RStudio open without errors?</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In the Console, type 1 + 1 and press Enter → you should see [1] 2</a:t>
            </a:r>
            <a:endParaRPr lang="en-US" sz="1250" dirty="0"/>
          </a:p>
        </p:txBody>
      </p:sp>
      <p:sp>
        <p:nvSpPr>
          <p:cNvPr id="13" name="Shape 11"/>
          <p:cNvSpPr/>
          <p:nvPr/>
        </p:nvSpPr>
        <p:spPr>
          <a:xfrm>
            <a:off x="640080" y="4409694"/>
            <a:ext cx="10911535" cy="1906524"/>
          </a:xfrm>
          <a:prstGeom prst="rect">
            <a:avLst/>
          </a:prstGeom>
          <a:solidFill>
            <a:srgbClr val="FBF0DA"/>
          </a:solidFill>
          <a:ln/>
        </p:spPr>
        <p:txBody>
          <a:bodyPr/>
          <a:lstStyle/>
          <a:p>
            <a:endParaRPr lang="en-NL"/>
          </a:p>
        </p:txBody>
      </p:sp>
      <p:sp>
        <p:nvSpPr>
          <p:cNvPr id="14" name="Shape 12"/>
          <p:cNvSpPr/>
          <p:nvPr/>
        </p:nvSpPr>
        <p:spPr>
          <a:xfrm>
            <a:off x="640080" y="4409694"/>
            <a:ext cx="64008" cy="1906524"/>
          </a:xfrm>
          <a:prstGeom prst="rect">
            <a:avLst/>
          </a:prstGeom>
          <a:solidFill>
            <a:srgbClr val="9C5A00"/>
          </a:solidFill>
          <a:ln/>
        </p:spPr>
        <p:txBody>
          <a:bodyPr/>
          <a:lstStyle/>
          <a:p>
            <a:endParaRPr lang="en-NL"/>
          </a:p>
        </p:txBody>
      </p:sp>
      <p:sp>
        <p:nvSpPr>
          <p:cNvPr id="15" name="Text 13"/>
          <p:cNvSpPr/>
          <p:nvPr/>
        </p:nvSpPr>
        <p:spPr>
          <a:xfrm>
            <a:off x="877824" y="4482846"/>
            <a:ext cx="10527487" cy="237744"/>
          </a:xfrm>
          <a:prstGeom prst="rect">
            <a:avLst/>
          </a:prstGeom>
          <a:noFill/>
          <a:ln/>
        </p:spPr>
        <p:txBody>
          <a:bodyPr wrap="square" rtlCol="0" anchor="ctr"/>
          <a:lstStyle/>
          <a:p>
            <a:pPr marL="0" indent="0">
              <a:buNone/>
            </a:pPr>
            <a:r>
              <a:rPr lang="en-US" sz="1050" b="1" kern="0" spc="150" dirty="0">
                <a:solidFill>
                  <a:srgbClr val="9C5A00"/>
                </a:solidFill>
                <a:latin typeface="Calibri" pitchFamily="34" charset="0"/>
                <a:ea typeface="Calibri" pitchFamily="34" charset="-122"/>
                <a:cs typeface="Calibri" pitchFamily="34" charset="-120"/>
              </a:rPr>
              <a:t>⚠  WATCH OUT (COMMON BLOCKERS)</a:t>
            </a:r>
            <a:endParaRPr lang="en-US" sz="1050" dirty="0"/>
          </a:p>
        </p:txBody>
      </p:sp>
      <p:sp>
        <p:nvSpPr>
          <p:cNvPr id="16" name="Text 14"/>
          <p:cNvSpPr/>
          <p:nvPr/>
        </p:nvSpPr>
        <p:spPr>
          <a:xfrm>
            <a:off x="877824" y="4738878"/>
            <a:ext cx="10527487" cy="1449324"/>
          </a:xfrm>
          <a:prstGeom prst="rect">
            <a:avLst/>
          </a:prstGeom>
          <a:noFill/>
          <a:ln/>
        </p:spPr>
        <p:txBody>
          <a:bodyPr wrap="square" rtlCol="0" anchor="t"/>
          <a:lstStyle/>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Install R FIRST, then RStudio (RStudio needs R to exist).</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University laptops often need admin rights — sort this out before today.</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Mac: pick the build for your chip (Apple Silicon vs Intel). If macOS</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blocks the installer, right-click → Open, or allow it in</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System Settings → Privacy &amp; Security.</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Antivirus on Windows can quarantine the installer — allow it.</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C · R + RSTUDIO    ·    EXERCISE · STEP 6</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Step 6 — clone your fork  (1 / 2)</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22</a:t>
            </a:r>
            <a:endParaRPr lang="en-US" sz="900" dirty="0"/>
          </a:p>
        </p:txBody>
      </p:sp>
      <p:sp>
        <p:nvSpPr>
          <p:cNvPr id="6" name="Shape 4"/>
          <p:cNvSpPr/>
          <p:nvPr/>
        </p:nvSpPr>
        <p:spPr>
          <a:xfrm>
            <a:off x="640080" y="1691640"/>
            <a:ext cx="10911535" cy="3796284"/>
          </a:xfrm>
          <a:prstGeom prst="rect">
            <a:avLst/>
          </a:prstGeom>
          <a:solidFill>
            <a:srgbClr val="F1F4F7"/>
          </a:solidFill>
          <a:ln/>
        </p:spPr>
        <p:txBody>
          <a:bodyPr/>
          <a:lstStyle/>
          <a:p>
            <a:endParaRPr lang="en-NL"/>
          </a:p>
        </p:txBody>
      </p:sp>
      <p:sp>
        <p:nvSpPr>
          <p:cNvPr id="7" name="Shape 5"/>
          <p:cNvSpPr/>
          <p:nvPr/>
        </p:nvSpPr>
        <p:spPr>
          <a:xfrm>
            <a:off x="640080" y="1691640"/>
            <a:ext cx="64008" cy="3796284"/>
          </a:xfrm>
          <a:prstGeom prst="rect">
            <a:avLst/>
          </a:prstGeom>
          <a:solidFill>
            <a:srgbClr val="0E7C7B"/>
          </a:solidFill>
          <a:ln/>
        </p:spPr>
        <p:txBody>
          <a:bodyPr/>
          <a:lstStyle/>
          <a:p>
            <a:endParaRPr lang="en-NL"/>
          </a:p>
        </p:txBody>
      </p:sp>
      <p:sp>
        <p:nvSpPr>
          <p:cNvPr id="8" name="Text 6"/>
          <p:cNvSpPr/>
          <p:nvPr/>
        </p:nvSpPr>
        <p:spPr>
          <a:xfrm>
            <a:off x="877824" y="1837944"/>
            <a:ext cx="10527487" cy="3503676"/>
          </a:xfrm>
          <a:prstGeom prst="rect">
            <a:avLst/>
          </a:prstGeom>
          <a:noFill/>
          <a:ln/>
        </p:spPr>
        <p:txBody>
          <a:bodyPr wrap="square" rtlCol="0" anchor="t"/>
          <a:lstStyle/>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Cloning = downloading YOUR fork (with its full history) to your machine.</a:t>
            </a:r>
            <a:endParaRPr lang="en-US" sz="1100" dirty="0"/>
          </a:p>
          <a:p>
            <a:pPr marL="0" indent="0" algn="l">
              <a:lnSpc>
                <a:spcPct val="112000"/>
              </a:lnSpc>
              <a:buNone/>
            </a:pPr>
            <a:endParaRPr lang="en-US" sz="1100" dirty="0"/>
          </a:p>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In RStudio:</a:t>
            </a:r>
            <a:endParaRPr lang="en-US" sz="1100" dirty="0"/>
          </a:p>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  File → New Project → Version Control → Git</a:t>
            </a:r>
            <a:endParaRPr lang="en-US" sz="1100" dirty="0"/>
          </a:p>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  Repository URL: https://github.com/&lt;your-username&gt;/the-science-repository</a:t>
            </a:r>
            <a:endParaRPr lang="en-US" sz="1100" dirty="0"/>
          </a:p>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  → Create Project</a:t>
            </a:r>
            <a:endParaRPr lang="en-US" sz="1100" dirty="0"/>
          </a:p>
          <a:p>
            <a:pPr marL="0" indent="0" algn="l">
              <a:lnSpc>
                <a:spcPct val="112000"/>
              </a:lnSpc>
              <a:buNone/>
            </a:pPr>
            <a:endParaRPr lang="en-US" sz="1100" dirty="0"/>
          </a:p>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Two ways to handle the GitHub login — pick one:</a:t>
            </a:r>
            <a:endParaRPr lang="en-US" sz="1100" dirty="0"/>
          </a:p>
          <a:p>
            <a:pPr marL="0" indent="0" algn="l">
              <a:lnSpc>
                <a:spcPct val="112000"/>
              </a:lnSpc>
              <a:buNone/>
            </a:pPr>
            <a:endParaRPr lang="en-US" sz="1100" dirty="0"/>
          </a:p>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  A. GitHub Desktop (easiest today)</a:t>
            </a:r>
            <a:endParaRPr lang="en-US" sz="1100" dirty="0"/>
          </a:p>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     Install desktop.github.com → sign in (in the browser) → File → Clone</a:t>
            </a:r>
            <a:endParaRPr lang="en-US" sz="1100" dirty="0"/>
          </a:p>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     No Personal Access Token to set up.</a:t>
            </a:r>
            <a:endParaRPr lang="en-US" sz="1100" dirty="0"/>
          </a:p>
          <a:p>
            <a:pPr marL="0" indent="0" algn="l">
              <a:lnSpc>
                <a:spcPct val="112000"/>
              </a:lnSpc>
              <a:buNone/>
            </a:pPr>
            <a:endParaRPr lang="en-US" sz="1100" dirty="0"/>
          </a:p>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  B. Personal Access Token / PAT (the sustainable, long-term setup)</a:t>
            </a:r>
            <a:endParaRPr lang="en-US" sz="1100" dirty="0"/>
          </a:p>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     In the R Console:</a:t>
            </a:r>
            <a:endParaRPr lang="en-US" sz="1100" dirty="0"/>
          </a:p>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        usethis::create_github_token()   # opens GitHub to create the token</a:t>
            </a:r>
            <a:endParaRPr lang="en-US" sz="1100" dirty="0"/>
          </a:p>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        gitcreds::gitcreds_set()         # paste it once; RStudio remembers it</a:t>
            </a:r>
            <a:endParaRPr lang="en-US" sz="1100" dirty="0"/>
          </a:p>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     Alternative:</a:t>
            </a:r>
            <a:endParaRPr lang="en-US" sz="1100" dirty="0"/>
          </a:p>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        Go to Github/Settings/Developer Settings/Personal Access Tokens/PAT</a:t>
            </a:r>
            <a:endParaRPr lang="en-US" sz="1100" dirty="0"/>
          </a:p>
        </p:txBody>
      </p:sp>
      <p:sp>
        <p:nvSpPr>
          <p:cNvPr id="9" name="Shape 7"/>
          <p:cNvSpPr/>
          <p:nvPr/>
        </p:nvSpPr>
        <p:spPr>
          <a:xfrm>
            <a:off x="640080" y="5634228"/>
            <a:ext cx="10911535" cy="661416"/>
          </a:xfrm>
          <a:prstGeom prst="rect">
            <a:avLst/>
          </a:prstGeom>
          <a:solidFill>
            <a:srgbClr val="F1F4F7"/>
          </a:solidFill>
          <a:ln/>
        </p:spPr>
        <p:txBody>
          <a:bodyPr/>
          <a:lstStyle/>
          <a:p>
            <a:endParaRPr lang="en-NL"/>
          </a:p>
        </p:txBody>
      </p:sp>
      <p:sp>
        <p:nvSpPr>
          <p:cNvPr id="10" name="Shape 8"/>
          <p:cNvSpPr/>
          <p:nvPr/>
        </p:nvSpPr>
        <p:spPr>
          <a:xfrm>
            <a:off x="640080" y="5634228"/>
            <a:ext cx="64008" cy="661416"/>
          </a:xfrm>
          <a:prstGeom prst="rect">
            <a:avLst/>
          </a:prstGeom>
          <a:solidFill>
            <a:srgbClr val="0E7C7B"/>
          </a:solidFill>
          <a:ln/>
        </p:spPr>
        <p:txBody>
          <a:bodyPr/>
          <a:lstStyle/>
          <a:p>
            <a:endParaRPr lang="en-NL"/>
          </a:p>
        </p:txBody>
      </p:sp>
      <p:sp>
        <p:nvSpPr>
          <p:cNvPr id="11" name="Text 9"/>
          <p:cNvSpPr/>
          <p:nvPr/>
        </p:nvSpPr>
        <p:spPr>
          <a:xfrm>
            <a:off x="877824" y="5780532"/>
            <a:ext cx="10527487" cy="368808"/>
          </a:xfrm>
          <a:prstGeom prst="rect">
            <a:avLst/>
          </a:prstGeom>
          <a:noFill/>
          <a:ln/>
        </p:spPr>
        <p:txBody>
          <a:bodyPr wrap="square" rtlCol="0" anchor="t"/>
          <a:lstStyle/>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Heads up: this is the fiddliest step of the whole day. That's expected —</a:t>
            </a:r>
            <a:endParaRPr lang="en-US" sz="1100" dirty="0"/>
          </a:p>
          <a:p>
            <a:pPr marL="0" indent="0" algn="l">
              <a:lnSpc>
                <a:spcPct val="112000"/>
              </a:lnSpc>
              <a:buNone/>
            </a:pPr>
            <a:r>
              <a:rPr lang="en-US" sz="1100" dirty="0">
                <a:solidFill>
                  <a:srgbClr val="243748"/>
                </a:solidFill>
                <a:latin typeface="Consolas" pitchFamily="34" charset="0"/>
                <a:ea typeface="Consolas" pitchFamily="34" charset="-122"/>
                <a:cs typeface="Consolas" pitchFamily="34" charset="-120"/>
              </a:rPr>
              <a:t>we will get everyone through it. Take a breath; ask for help.</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C · R + RSTUDIO    ·    EXERCISE · STEP 6</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Step 6 — clone your fork  (2 / 2)</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22</a:t>
            </a:r>
            <a:endParaRPr lang="en-US" sz="900" dirty="0"/>
          </a:p>
        </p:txBody>
      </p:sp>
      <p:sp>
        <p:nvSpPr>
          <p:cNvPr id="6" name="Shape 4"/>
          <p:cNvSpPr/>
          <p:nvPr/>
        </p:nvSpPr>
        <p:spPr>
          <a:xfrm>
            <a:off x="640080" y="1691640"/>
            <a:ext cx="10911535" cy="2359152"/>
          </a:xfrm>
          <a:prstGeom prst="rect">
            <a:avLst/>
          </a:prstGeom>
          <a:solidFill>
            <a:srgbClr val="FBF0DA"/>
          </a:solidFill>
          <a:ln/>
        </p:spPr>
        <p:txBody>
          <a:bodyPr/>
          <a:lstStyle/>
          <a:p>
            <a:endParaRPr lang="en-NL"/>
          </a:p>
        </p:txBody>
      </p:sp>
      <p:sp>
        <p:nvSpPr>
          <p:cNvPr id="7" name="Shape 5"/>
          <p:cNvSpPr/>
          <p:nvPr/>
        </p:nvSpPr>
        <p:spPr>
          <a:xfrm>
            <a:off x="640080" y="1691640"/>
            <a:ext cx="64008" cy="2359152"/>
          </a:xfrm>
          <a:prstGeom prst="rect">
            <a:avLst/>
          </a:prstGeom>
          <a:solidFill>
            <a:srgbClr val="9C5A00"/>
          </a:solidFill>
          <a:ln/>
        </p:spPr>
        <p:txBody>
          <a:bodyPr/>
          <a:lstStyle/>
          <a:p>
            <a:endParaRPr lang="en-NL"/>
          </a:p>
        </p:txBody>
      </p:sp>
      <p:sp>
        <p:nvSpPr>
          <p:cNvPr id="8" name="Text 6"/>
          <p:cNvSpPr/>
          <p:nvPr/>
        </p:nvSpPr>
        <p:spPr>
          <a:xfrm>
            <a:off x="877824" y="1764792"/>
            <a:ext cx="10527487" cy="237744"/>
          </a:xfrm>
          <a:prstGeom prst="rect">
            <a:avLst/>
          </a:prstGeom>
          <a:noFill/>
          <a:ln/>
        </p:spPr>
        <p:txBody>
          <a:bodyPr wrap="square" rtlCol="0" anchor="ctr"/>
          <a:lstStyle/>
          <a:p>
            <a:pPr marL="0" indent="0">
              <a:buNone/>
            </a:pPr>
            <a:r>
              <a:rPr lang="en-US" sz="1050" b="1" kern="0" spc="150" dirty="0">
                <a:solidFill>
                  <a:srgbClr val="9C5A00"/>
                </a:solidFill>
                <a:latin typeface="Calibri" pitchFamily="34" charset="0"/>
                <a:ea typeface="Calibri" pitchFamily="34" charset="-122"/>
                <a:cs typeface="Calibri" pitchFamily="34" charset="-120"/>
              </a:rPr>
              <a:t>⚠  WATCH OUT (COMMON BLOCKERS)</a:t>
            </a:r>
            <a:endParaRPr lang="en-US" sz="1050" dirty="0"/>
          </a:p>
        </p:txBody>
      </p:sp>
      <p:sp>
        <p:nvSpPr>
          <p:cNvPr id="9" name="Text 7"/>
          <p:cNvSpPr/>
          <p:nvPr/>
        </p:nvSpPr>
        <p:spPr>
          <a:xfrm>
            <a:off x="877824" y="2020824"/>
            <a:ext cx="10527487" cy="1901952"/>
          </a:xfrm>
          <a:prstGeom prst="rect">
            <a:avLst/>
          </a:prstGeom>
          <a:noFill/>
          <a:ln/>
        </p:spPr>
        <p:txBody>
          <a:bodyPr wrap="square" rtlCol="0" anchor="t"/>
          <a:lstStyle/>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If the "Git" option is greyed out, Git isn't installed → install from</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git-scm.com, restart RStudio.</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FIRST TIME ONLY — tell Git who you are (same email as GitHub):</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git config --global user.name  "Your Name"</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git config --global user.email "you@university.edu"</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Pushing over HTTPS no longer accepts your password. When asked, paste a</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Personal Access Token (option B), or use GitHub Desktop (option A) which</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signs you in through the browser and handles credentials for you.</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C · R + RSTUDIO    ·    OPTIONAL</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How RStudio Projects get created</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640080" y="1691640"/>
            <a:ext cx="10911535" cy="1650492"/>
          </a:xfrm>
          <a:prstGeom prst="rect">
            <a:avLst/>
          </a:prstGeom>
          <a:solidFill>
            <a:srgbClr val="F1F4F7"/>
          </a:solidFill>
          <a:ln/>
        </p:spPr>
        <p:txBody>
          <a:bodyPr/>
          <a:lstStyle/>
          <a:p>
            <a:endParaRPr lang="en-NL"/>
          </a:p>
        </p:txBody>
      </p:sp>
      <p:sp>
        <p:nvSpPr>
          <p:cNvPr id="7" name="Shape 5"/>
          <p:cNvSpPr/>
          <p:nvPr/>
        </p:nvSpPr>
        <p:spPr>
          <a:xfrm>
            <a:off x="640080" y="1691640"/>
            <a:ext cx="64008" cy="1650492"/>
          </a:xfrm>
          <a:prstGeom prst="rect">
            <a:avLst/>
          </a:prstGeom>
          <a:solidFill>
            <a:srgbClr val="0E7C7B"/>
          </a:solidFill>
          <a:ln/>
        </p:spPr>
        <p:txBody>
          <a:bodyPr/>
          <a:lstStyle/>
          <a:p>
            <a:endParaRPr lang="en-NL"/>
          </a:p>
        </p:txBody>
      </p:sp>
      <p:sp>
        <p:nvSpPr>
          <p:cNvPr id="8" name="Text 6"/>
          <p:cNvSpPr/>
          <p:nvPr/>
        </p:nvSpPr>
        <p:spPr>
          <a:xfrm>
            <a:off x="877824" y="1837944"/>
            <a:ext cx="10527487" cy="1357884"/>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File → New Project → …</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1. New Directory       a brand-new empty project folder</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2. Existing Directory  wrap a project around a folder you already have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3. Version Control     clone from GitHub (what we just did)</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Every option produces a  .Rproj  file = the project's anchor.</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C · R + RSTUDIO</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Always open via the .Rproj</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640080" y="1691640"/>
            <a:ext cx="10911535" cy="1650492"/>
          </a:xfrm>
          <a:prstGeom prst="rect">
            <a:avLst/>
          </a:prstGeom>
          <a:solidFill>
            <a:srgbClr val="F1F4F7"/>
          </a:solidFill>
          <a:ln/>
        </p:spPr>
        <p:txBody>
          <a:bodyPr/>
          <a:lstStyle/>
          <a:p>
            <a:endParaRPr lang="en-NL"/>
          </a:p>
        </p:txBody>
      </p:sp>
      <p:sp>
        <p:nvSpPr>
          <p:cNvPr id="7" name="Shape 5"/>
          <p:cNvSpPr/>
          <p:nvPr/>
        </p:nvSpPr>
        <p:spPr>
          <a:xfrm>
            <a:off x="640080" y="1691640"/>
            <a:ext cx="64008" cy="1650492"/>
          </a:xfrm>
          <a:prstGeom prst="rect">
            <a:avLst/>
          </a:prstGeom>
          <a:solidFill>
            <a:srgbClr val="0E7C7B"/>
          </a:solidFill>
          <a:ln/>
        </p:spPr>
        <p:txBody>
          <a:bodyPr/>
          <a:lstStyle/>
          <a:p>
            <a:endParaRPr lang="en-NL"/>
          </a:p>
        </p:txBody>
      </p:sp>
      <p:sp>
        <p:nvSpPr>
          <p:cNvPr id="8" name="Text 6"/>
          <p:cNvSpPr/>
          <p:nvPr/>
        </p:nvSpPr>
        <p:spPr>
          <a:xfrm>
            <a:off x="877824" y="1837944"/>
            <a:ext cx="10527487" cy="1357884"/>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the-science-repository.Rproj   ← double-click THIS</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Opening the project (not single files) tells R:</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where the project root is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where data, scripts, and outputs live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file paths work the same on everyone's computer</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C · R + RSTUDIO</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The four panes (and the Terminal)</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26</a:t>
            </a:r>
            <a:endParaRPr lang="en-US" sz="900" dirty="0"/>
          </a:p>
        </p:txBody>
      </p:sp>
      <p:sp>
        <p:nvSpPr>
          <p:cNvPr id="6" name="Shape 4"/>
          <p:cNvSpPr/>
          <p:nvPr/>
        </p:nvSpPr>
        <p:spPr>
          <a:xfrm>
            <a:off x="640080" y="1691640"/>
            <a:ext cx="10911535" cy="2103120"/>
          </a:xfrm>
          <a:prstGeom prst="rect">
            <a:avLst/>
          </a:prstGeom>
          <a:solidFill>
            <a:srgbClr val="F1F4F7"/>
          </a:solidFill>
          <a:ln/>
        </p:spPr>
        <p:txBody>
          <a:bodyPr/>
          <a:lstStyle/>
          <a:p>
            <a:endParaRPr lang="en-NL"/>
          </a:p>
        </p:txBody>
      </p:sp>
      <p:sp>
        <p:nvSpPr>
          <p:cNvPr id="7" name="Shape 5"/>
          <p:cNvSpPr/>
          <p:nvPr/>
        </p:nvSpPr>
        <p:spPr>
          <a:xfrm>
            <a:off x="640080" y="1691640"/>
            <a:ext cx="64008" cy="2103120"/>
          </a:xfrm>
          <a:prstGeom prst="rect">
            <a:avLst/>
          </a:prstGeom>
          <a:solidFill>
            <a:srgbClr val="0E7C7B"/>
          </a:solidFill>
          <a:ln/>
        </p:spPr>
        <p:txBody>
          <a:bodyPr/>
          <a:lstStyle/>
          <a:p>
            <a:endParaRPr lang="en-NL"/>
          </a:p>
        </p:txBody>
      </p:sp>
      <p:sp>
        <p:nvSpPr>
          <p:cNvPr id="8" name="Text 6"/>
          <p:cNvSpPr/>
          <p:nvPr/>
        </p:nvSpPr>
        <p:spPr>
          <a:xfrm>
            <a:off x="877824" y="1837944"/>
            <a:ext cx="10527487" cy="1810512"/>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Source       where you write and save scripts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Console      where R runs R commands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Environment  the objects currently in memory</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Files/Plots/Packages/Help   manage files, see figures, read docs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 project set-up  You change settings in your R project.</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Terminal tab (next to Console): your computer's command line —</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this is where git and `quarto render` commands run.</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C2B3A"/>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E7C7B"/>
          </a:solidFill>
          <a:ln/>
        </p:spPr>
        <p:txBody>
          <a:bodyPr/>
          <a:lstStyle/>
          <a:p>
            <a:endParaRPr lang="en-NL"/>
          </a:p>
        </p:txBody>
      </p:sp>
      <p:sp>
        <p:nvSpPr>
          <p:cNvPr id="3" name="Text 1"/>
          <p:cNvSpPr/>
          <p:nvPr/>
        </p:nvSpPr>
        <p:spPr>
          <a:xfrm>
            <a:off x="914400" y="1554480"/>
            <a:ext cx="10362895" cy="365760"/>
          </a:xfrm>
          <a:prstGeom prst="rect">
            <a:avLst/>
          </a:prstGeom>
          <a:noFill/>
          <a:ln/>
        </p:spPr>
        <p:txBody>
          <a:bodyPr wrap="square" rtlCol="0" anchor="ctr"/>
          <a:lstStyle/>
          <a:p>
            <a:pPr marL="0" indent="0" algn="ctr">
              <a:buNone/>
            </a:pPr>
            <a:r>
              <a:rPr lang="en-US" sz="1400" b="1" kern="0" spc="200" dirty="0">
                <a:solidFill>
                  <a:srgbClr val="8FD0CC"/>
                </a:solidFill>
                <a:latin typeface="Calibri" pitchFamily="34" charset="0"/>
                <a:ea typeface="Calibri" pitchFamily="34" charset="-122"/>
                <a:cs typeface="Calibri" pitchFamily="34" charset="-120"/>
              </a:rPr>
              <a:t>BREAK · SESSION II ENDS</a:t>
            </a:r>
            <a:endParaRPr lang="en-US" sz="1400" dirty="0"/>
          </a:p>
        </p:txBody>
      </p:sp>
      <p:sp>
        <p:nvSpPr>
          <p:cNvPr id="4" name="Text 2"/>
          <p:cNvSpPr/>
          <p:nvPr/>
        </p:nvSpPr>
        <p:spPr>
          <a:xfrm>
            <a:off x="914400" y="2057400"/>
            <a:ext cx="10362895" cy="822960"/>
          </a:xfrm>
          <a:prstGeom prst="rect">
            <a:avLst/>
          </a:prstGeom>
          <a:noFill/>
          <a:ln/>
        </p:spPr>
        <p:txBody>
          <a:bodyPr wrap="square" rtlCol="0" anchor="ctr"/>
          <a:lstStyle/>
          <a:p>
            <a:pPr marL="0" indent="0" algn="ctr">
              <a:buNone/>
            </a:pPr>
            <a:r>
              <a:rPr lang="en-US" sz="4000" b="1" dirty="0">
                <a:solidFill>
                  <a:srgbClr val="FFFFFF"/>
                </a:solidFill>
                <a:latin typeface="Georgia" pitchFamily="34" charset="0"/>
                <a:ea typeface="Georgia" pitchFamily="34" charset="-122"/>
                <a:cs typeface="Georgia" pitchFamily="34" charset="-120"/>
              </a:rPr>
              <a:t>Lunch — 12:30–13:30</a:t>
            </a:r>
            <a:endParaRPr lang="en-US" sz="4000" dirty="0"/>
          </a:p>
        </p:txBody>
      </p:sp>
      <p:sp>
        <p:nvSpPr>
          <p:cNvPr id="5" name="Shape 3"/>
          <p:cNvSpPr/>
          <p:nvPr/>
        </p:nvSpPr>
        <p:spPr>
          <a:xfrm>
            <a:off x="2194560" y="3246120"/>
            <a:ext cx="7802575" cy="2468880"/>
          </a:xfrm>
          <a:prstGeom prst="roundRect">
            <a:avLst>
              <a:gd name="adj" fmla="val 2222"/>
            </a:avLst>
          </a:prstGeom>
          <a:solidFill>
            <a:srgbClr val="26384B"/>
          </a:solidFill>
          <a:ln/>
        </p:spPr>
        <p:txBody>
          <a:bodyPr/>
          <a:lstStyle/>
          <a:p>
            <a:endParaRPr lang="en-NL"/>
          </a:p>
        </p:txBody>
      </p:sp>
      <p:sp>
        <p:nvSpPr>
          <p:cNvPr id="6" name="Text 4"/>
          <p:cNvSpPr/>
          <p:nvPr/>
        </p:nvSpPr>
        <p:spPr>
          <a:xfrm>
            <a:off x="2468880" y="3383280"/>
            <a:ext cx="7253935" cy="2194560"/>
          </a:xfrm>
          <a:prstGeom prst="rect">
            <a:avLst/>
          </a:prstGeom>
          <a:noFill/>
          <a:ln/>
        </p:spPr>
        <p:txBody>
          <a:bodyPr wrap="square" rtlCol="0" anchor="ctr"/>
          <a:lstStyle/>
          <a:p>
            <a:pPr marL="0" indent="0" algn="l">
              <a:lnSpc>
                <a:spcPct val="130000"/>
              </a:lnSpc>
              <a:buNone/>
            </a:pPr>
            <a:r>
              <a:rPr lang="en-US" sz="1500" dirty="0">
                <a:solidFill>
                  <a:srgbClr val="DCE7E7"/>
                </a:solidFill>
                <a:latin typeface="Consolas" pitchFamily="34" charset="0"/>
                <a:ea typeface="Consolas" pitchFamily="34" charset="-122"/>
                <a:cs typeface="Consolas" pitchFamily="34" charset="-120"/>
              </a:rPr>
              <a:t>Back at 13:30.</a:t>
            </a:r>
            <a:endParaRPr lang="en-US" sz="1500" dirty="0"/>
          </a:p>
          <a:p>
            <a:pPr marL="0" indent="0" algn="l">
              <a:lnSpc>
                <a:spcPct val="130000"/>
              </a:lnSpc>
              <a:buNone/>
            </a:pPr>
            <a:endParaRPr lang="en-US" sz="1500" dirty="0"/>
          </a:p>
          <a:p>
            <a:pPr marL="0" indent="0" algn="l">
              <a:lnSpc>
                <a:spcPct val="130000"/>
              </a:lnSpc>
              <a:buNone/>
            </a:pPr>
            <a:r>
              <a:rPr lang="en-US" sz="1500" dirty="0">
                <a:solidFill>
                  <a:srgbClr val="DCE7E7"/>
                </a:solidFill>
                <a:latin typeface="Consolas" pitchFamily="34" charset="0"/>
                <a:ea typeface="Consolas" pitchFamily="34" charset="-122"/>
                <a:cs typeface="Consolas" pitchFamily="34" charset="-120"/>
              </a:rPr>
              <a:t>✓ So far: R &amp; RStudio installed · fork cloned · project open via the .Rproj</a:t>
            </a:r>
            <a:endParaRPr lang="en-US" sz="1500" dirty="0"/>
          </a:p>
          <a:p>
            <a:pPr marL="0" indent="0" algn="l">
              <a:lnSpc>
                <a:spcPct val="130000"/>
              </a:lnSpc>
              <a:buNone/>
            </a:pPr>
            <a:r>
              <a:rPr lang="en-US" sz="1500" dirty="0">
                <a:solidFill>
                  <a:srgbClr val="DCE7E7"/>
                </a:solidFill>
                <a:latin typeface="Consolas" pitchFamily="34" charset="0"/>
                <a:ea typeface="Consolas" pitchFamily="34" charset="-122"/>
                <a:cs typeface="Consolas" pitchFamily="34" charset="-120"/>
              </a:rPr>
              <a:t>→ Next: restore the exact packages, then the publishing pipeline and your</a:t>
            </a:r>
            <a:endParaRPr lang="en-US" sz="1500" dirty="0"/>
          </a:p>
          <a:p>
            <a:pPr marL="0" indent="0" algn="l">
              <a:lnSpc>
                <a:spcPct val="130000"/>
              </a:lnSpc>
              <a:buNone/>
            </a:pPr>
            <a:r>
              <a:rPr lang="en-US" sz="1500" dirty="0">
                <a:solidFill>
                  <a:srgbClr val="DCE7E7"/>
                </a:solidFill>
                <a:latin typeface="Consolas" pitchFamily="34" charset="0"/>
                <a:ea typeface="Consolas" pitchFamily="34" charset="-122"/>
                <a:cs typeface="Consolas" pitchFamily="34" charset="-120"/>
              </a:rPr>
              <a:t>        first local render</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D · ENVIRONMENT CONTROL (RENV)</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Why pinning package versions matters</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640080" y="1691640"/>
            <a:ext cx="10911535" cy="1197864"/>
          </a:xfrm>
          <a:prstGeom prst="rect">
            <a:avLst/>
          </a:prstGeom>
          <a:solidFill>
            <a:srgbClr val="F1F4F7"/>
          </a:solidFill>
          <a:ln/>
        </p:spPr>
        <p:txBody>
          <a:bodyPr/>
          <a:lstStyle/>
          <a:p>
            <a:endParaRPr lang="en-NL"/>
          </a:p>
        </p:txBody>
      </p:sp>
      <p:sp>
        <p:nvSpPr>
          <p:cNvPr id="7" name="Shape 5"/>
          <p:cNvSpPr/>
          <p:nvPr/>
        </p:nvSpPr>
        <p:spPr>
          <a:xfrm>
            <a:off x="640080" y="1691640"/>
            <a:ext cx="64008" cy="1197864"/>
          </a:xfrm>
          <a:prstGeom prst="rect">
            <a:avLst/>
          </a:prstGeom>
          <a:solidFill>
            <a:srgbClr val="0E7C7B"/>
          </a:solidFill>
          <a:ln/>
        </p:spPr>
        <p:txBody>
          <a:bodyPr/>
          <a:lstStyle/>
          <a:p>
            <a:endParaRPr lang="en-NL"/>
          </a:p>
        </p:txBody>
      </p:sp>
      <p:sp>
        <p:nvSpPr>
          <p:cNvPr id="8" name="Text 6"/>
          <p:cNvSpPr/>
          <p:nvPr/>
        </p:nvSpPr>
        <p:spPr>
          <a:xfrm>
            <a:off x="877824" y="1837944"/>
            <a:ext cx="10527487" cy="905256"/>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Same code + different package versions = different (or broken) results.</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"It works on my laptop but not yours."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"It worked last year but not today."</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D · ENVIRONMENT CONTROL (RENV)</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renv = a locked, per-project package library</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640080" y="1691640"/>
            <a:ext cx="10911535" cy="1424178"/>
          </a:xfrm>
          <a:prstGeom prst="rect">
            <a:avLst/>
          </a:prstGeom>
          <a:solidFill>
            <a:srgbClr val="F1F4F7"/>
          </a:solidFill>
          <a:ln/>
        </p:spPr>
        <p:txBody>
          <a:bodyPr/>
          <a:lstStyle/>
          <a:p>
            <a:endParaRPr lang="en-NL"/>
          </a:p>
        </p:txBody>
      </p:sp>
      <p:sp>
        <p:nvSpPr>
          <p:cNvPr id="7" name="Shape 5"/>
          <p:cNvSpPr/>
          <p:nvPr/>
        </p:nvSpPr>
        <p:spPr>
          <a:xfrm>
            <a:off x="640080" y="1691640"/>
            <a:ext cx="64008" cy="1424178"/>
          </a:xfrm>
          <a:prstGeom prst="rect">
            <a:avLst/>
          </a:prstGeom>
          <a:solidFill>
            <a:srgbClr val="0E7C7B"/>
          </a:solidFill>
          <a:ln/>
        </p:spPr>
        <p:txBody>
          <a:bodyPr/>
          <a:lstStyle/>
          <a:p>
            <a:endParaRPr lang="en-NL"/>
          </a:p>
        </p:txBody>
      </p:sp>
      <p:sp>
        <p:nvSpPr>
          <p:cNvPr id="8" name="Text 6"/>
          <p:cNvSpPr/>
          <p:nvPr/>
        </p:nvSpPr>
        <p:spPr>
          <a:xfrm>
            <a:off x="877824" y="1837944"/>
            <a:ext cx="10527487" cy="1131570"/>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renv.lock     records the exact version of every package this project uses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renv/         a private package library just for this project</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.Rprofile     activates renv automatically when the project opens</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Everyone restores the SAME versions. No more version drift.</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D · ENVIRONMENT CONTROL (RENV)    ·    EXERCISE · STEP 7</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Step 7 — install the exact packages</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29</a:t>
            </a:r>
            <a:endParaRPr lang="en-US" sz="900" dirty="0"/>
          </a:p>
        </p:txBody>
      </p:sp>
      <p:sp>
        <p:nvSpPr>
          <p:cNvPr id="6" name="Shape 4"/>
          <p:cNvSpPr/>
          <p:nvPr/>
        </p:nvSpPr>
        <p:spPr>
          <a:xfrm>
            <a:off x="640080" y="1691640"/>
            <a:ext cx="10911535" cy="745236"/>
          </a:xfrm>
          <a:prstGeom prst="rect">
            <a:avLst/>
          </a:prstGeom>
          <a:solidFill>
            <a:srgbClr val="F1F4F7"/>
          </a:solidFill>
          <a:ln/>
        </p:spPr>
        <p:txBody>
          <a:bodyPr/>
          <a:lstStyle/>
          <a:p>
            <a:endParaRPr lang="en-NL"/>
          </a:p>
        </p:txBody>
      </p:sp>
      <p:sp>
        <p:nvSpPr>
          <p:cNvPr id="7" name="Shape 5"/>
          <p:cNvSpPr/>
          <p:nvPr/>
        </p:nvSpPr>
        <p:spPr>
          <a:xfrm>
            <a:off x="640080" y="1691640"/>
            <a:ext cx="64008" cy="745236"/>
          </a:xfrm>
          <a:prstGeom prst="rect">
            <a:avLst/>
          </a:prstGeom>
          <a:solidFill>
            <a:srgbClr val="0E7C7B"/>
          </a:solidFill>
          <a:ln/>
        </p:spPr>
        <p:txBody>
          <a:bodyPr/>
          <a:lstStyle/>
          <a:p>
            <a:endParaRPr lang="en-NL"/>
          </a:p>
        </p:txBody>
      </p:sp>
      <p:sp>
        <p:nvSpPr>
          <p:cNvPr id="8" name="Text 6"/>
          <p:cNvSpPr/>
          <p:nvPr/>
        </p:nvSpPr>
        <p:spPr>
          <a:xfrm>
            <a:off x="10637215" y="1728216"/>
            <a:ext cx="822960" cy="201168"/>
          </a:xfrm>
          <a:prstGeom prst="rect">
            <a:avLst/>
          </a:prstGeom>
          <a:noFill/>
          <a:ln/>
        </p:spPr>
        <p:txBody>
          <a:bodyPr wrap="square" rtlCol="0" anchor="ctr"/>
          <a:lstStyle/>
          <a:p>
            <a:pPr marL="0" indent="0" algn="r">
              <a:buNone/>
            </a:pPr>
            <a:r>
              <a:rPr lang="en-US" sz="800" b="1" kern="0" spc="100" dirty="0">
                <a:solidFill>
                  <a:srgbClr val="7C8A99"/>
                </a:solidFill>
                <a:latin typeface="Calibri" pitchFamily="34" charset="0"/>
                <a:ea typeface="Calibri" pitchFamily="34" charset="-122"/>
                <a:cs typeface="Calibri" pitchFamily="34" charset="-120"/>
              </a:rPr>
              <a:t>R</a:t>
            </a:r>
            <a:endParaRPr lang="en-US" sz="800" dirty="0"/>
          </a:p>
        </p:txBody>
      </p:sp>
      <p:sp>
        <p:nvSpPr>
          <p:cNvPr id="9" name="Text 7"/>
          <p:cNvSpPr/>
          <p:nvPr/>
        </p:nvSpPr>
        <p:spPr>
          <a:xfrm>
            <a:off x="877824" y="1837944"/>
            <a:ext cx="10527487" cy="452628"/>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install.packages("renv")   # only if RStudio doesn't prompt you</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renv::restore()            # installs every package at the pinned version</a:t>
            </a:r>
            <a:endParaRPr lang="en-US" sz="1350" dirty="0"/>
          </a:p>
        </p:txBody>
      </p:sp>
      <p:sp>
        <p:nvSpPr>
          <p:cNvPr id="10" name="Shape 8"/>
          <p:cNvSpPr/>
          <p:nvPr/>
        </p:nvSpPr>
        <p:spPr>
          <a:xfrm>
            <a:off x="640080" y="2583180"/>
            <a:ext cx="10911535" cy="1227582"/>
          </a:xfrm>
          <a:prstGeom prst="rect">
            <a:avLst/>
          </a:prstGeom>
          <a:solidFill>
            <a:srgbClr val="E7F2EC"/>
          </a:solidFill>
          <a:ln/>
        </p:spPr>
        <p:txBody>
          <a:bodyPr/>
          <a:lstStyle/>
          <a:p>
            <a:endParaRPr lang="en-NL"/>
          </a:p>
        </p:txBody>
      </p:sp>
      <p:sp>
        <p:nvSpPr>
          <p:cNvPr id="11" name="Shape 9"/>
          <p:cNvSpPr/>
          <p:nvPr/>
        </p:nvSpPr>
        <p:spPr>
          <a:xfrm>
            <a:off x="640080" y="2583180"/>
            <a:ext cx="64008" cy="1227582"/>
          </a:xfrm>
          <a:prstGeom prst="rect">
            <a:avLst/>
          </a:prstGeom>
          <a:solidFill>
            <a:srgbClr val="2E7D5B"/>
          </a:solidFill>
          <a:ln/>
        </p:spPr>
        <p:txBody>
          <a:bodyPr/>
          <a:lstStyle/>
          <a:p>
            <a:endParaRPr lang="en-NL"/>
          </a:p>
        </p:txBody>
      </p:sp>
      <p:sp>
        <p:nvSpPr>
          <p:cNvPr id="12" name="Text 10"/>
          <p:cNvSpPr/>
          <p:nvPr/>
        </p:nvSpPr>
        <p:spPr>
          <a:xfrm>
            <a:off x="877824" y="2656332"/>
            <a:ext cx="10527487" cy="237744"/>
          </a:xfrm>
          <a:prstGeom prst="rect">
            <a:avLst/>
          </a:prstGeom>
          <a:noFill/>
          <a:ln/>
        </p:spPr>
        <p:txBody>
          <a:bodyPr wrap="square" rtlCol="0" anchor="ctr"/>
          <a:lstStyle/>
          <a:p>
            <a:pPr marL="0" indent="0">
              <a:buNone/>
            </a:pPr>
            <a:r>
              <a:rPr lang="en-US" sz="1050" b="1" kern="0" spc="150" dirty="0">
                <a:solidFill>
                  <a:srgbClr val="2E7D5B"/>
                </a:solidFill>
                <a:latin typeface="Calibri" pitchFamily="34" charset="0"/>
                <a:ea typeface="Calibri" pitchFamily="34" charset="-122"/>
                <a:cs typeface="Calibri" pitchFamily="34" charset="-120"/>
              </a:rPr>
              <a:t>CHECK</a:t>
            </a:r>
            <a:endParaRPr lang="en-US" sz="1050" dirty="0"/>
          </a:p>
        </p:txBody>
      </p:sp>
      <p:sp>
        <p:nvSpPr>
          <p:cNvPr id="13" name="Text 11"/>
          <p:cNvSpPr/>
          <p:nvPr/>
        </p:nvSpPr>
        <p:spPr>
          <a:xfrm>
            <a:off x="877824" y="2912364"/>
            <a:ext cx="10527487" cy="770382"/>
          </a:xfrm>
          <a:prstGeom prst="rect">
            <a:avLst/>
          </a:prstGeom>
          <a:noFill/>
          <a:ln/>
        </p:spPr>
        <p:txBody>
          <a:bodyPr wrap="square" rtlCol="0" anchor="t"/>
          <a:lstStyle/>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renv reads renv.lock and installs what's missing.</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This can take a few minutes — that's normal.</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When it finishes, you have every package the project needs.</a:t>
            </a:r>
            <a:endParaRPr lang="en-US" sz="1250" dirty="0"/>
          </a:p>
        </p:txBody>
      </p:sp>
      <p:sp>
        <p:nvSpPr>
          <p:cNvPr id="14" name="Shape 12"/>
          <p:cNvSpPr/>
          <p:nvPr/>
        </p:nvSpPr>
        <p:spPr>
          <a:xfrm>
            <a:off x="640080" y="3957066"/>
            <a:ext cx="10911535" cy="1680210"/>
          </a:xfrm>
          <a:prstGeom prst="rect">
            <a:avLst/>
          </a:prstGeom>
          <a:solidFill>
            <a:srgbClr val="FBF0DA"/>
          </a:solidFill>
          <a:ln/>
        </p:spPr>
        <p:txBody>
          <a:bodyPr/>
          <a:lstStyle/>
          <a:p>
            <a:endParaRPr lang="en-NL"/>
          </a:p>
        </p:txBody>
      </p:sp>
      <p:sp>
        <p:nvSpPr>
          <p:cNvPr id="15" name="Shape 13"/>
          <p:cNvSpPr/>
          <p:nvPr/>
        </p:nvSpPr>
        <p:spPr>
          <a:xfrm>
            <a:off x="640080" y="3957066"/>
            <a:ext cx="64008" cy="1680210"/>
          </a:xfrm>
          <a:prstGeom prst="rect">
            <a:avLst/>
          </a:prstGeom>
          <a:solidFill>
            <a:srgbClr val="9C5A00"/>
          </a:solidFill>
          <a:ln/>
        </p:spPr>
        <p:txBody>
          <a:bodyPr/>
          <a:lstStyle/>
          <a:p>
            <a:endParaRPr lang="en-NL"/>
          </a:p>
        </p:txBody>
      </p:sp>
      <p:sp>
        <p:nvSpPr>
          <p:cNvPr id="16" name="Text 14"/>
          <p:cNvSpPr/>
          <p:nvPr/>
        </p:nvSpPr>
        <p:spPr>
          <a:xfrm>
            <a:off x="877824" y="4030218"/>
            <a:ext cx="10527487" cy="237744"/>
          </a:xfrm>
          <a:prstGeom prst="rect">
            <a:avLst/>
          </a:prstGeom>
          <a:noFill/>
          <a:ln/>
        </p:spPr>
        <p:txBody>
          <a:bodyPr wrap="square" rtlCol="0" anchor="ctr"/>
          <a:lstStyle/>
          <a:p>
            <a:pPr marL="0" indent="0">
              <a:buNone/>
            </a:pPr>
            <a:r>
              <a:rPr lang="en-US" sz="1050" b="1" kern="0" spc="150" dirty="0">
                <a:solidFill>
                  <a:srgbClr val="9C5A00"/>
                </a:solidFill>
                <a:latin typeface="Calibri" pitchFamily="34" charset="0"/>
                <a:ea typeface="Calibri" pitchFamily="34" charset="-122"/>
                <a:cs typeface="Calibri" pitchFamily="34" charset="-120"/>
              </a:rPr>
              <a:t>⚠  WATCH OUT (COMMON BLOCKERS)</a:t>
            </a:r>
            <a:endParaRPr lang="en-US" sz="1050" dirty="0"/>
          </a:p>
        </p:txBody>
      </p:sp>
      <p:sp>
        <p:nvSpPr>
          <p:cNvPr id="17" name="Text 15"/>
          <p:cNvSpPr/>
          <p:nvPr/>
        </p:nvSpPr>
        <p:spPr>
          <a:xfrm>
            <a:off x="877824" y="4286250"/>
            <a:ext cx="10527487" cy="1223010"/>
          </a:xfrm>
          <a:prstGeom prst="rect">
            <a:avLst/>
          </a:prstGeom>
          <a:noFill/>
          <a:ln/>
        </p:spPr>
        <p:txBody>
          <a:bodyPr wrap="square" rtlCol="0" anchor="t"/>
          <a:lstStyle/>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If prompted "Do you want to proceed? [y/N]" — type y and Enter.</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First restore can compile packages from source. Mac users may be asked to</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install the Xcode Command Line Tools — accept it.</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It can take 5–15 min on a fresh machine. Let it finish; don't interrupt.</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Needs a stable internet connection — conference Wi-Fi can stall it.</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E · DOCUMENTATION</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Every project explains itself</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30</a:t>
            </a:r>
            <a:endParaRPr lang="en-US" sz="900" dirty="0"/>
          </a:p>
        </p:txBody>
      </p:sp>
      <p:sp>
        <p:nvSpPr>
          <p:cNvPr id="6" name="Shape 4"/>
          <p:cNvSpPr/>
          <p:nvPr/>
        </p:nvSpPr>
        <p:spPr>
          <a:xfrm>
            <a:off x="640080" y="1691640"/>
            <a:ext cx="10911535" cy="1650492"/>
          </a:xfrm>
          <a:prstGeom prst="rect">
            <a:avLst/>
          </a:prstGeom>
          <a:solidFill>
            <a:srgbClr val="F1F4F7"/>
          </a:solidFill>
          <a:ln/>
        </p:spPr>
        <p:txBody>
          <a:bodyPr/>
          <a:lstStyle/>
          <a:p>
            <a:endParaRPr lang="en-NL"/>
          </a:p>
        </p:txBody>
      </p:sp>
      <p:sp>
        <p:nvSpPr>
          <p:cNvPr id="7" name="Shape 5"/>
          <p:cNvSpPr/>
          <p:nvPr/>
        </p:nvSpPr>
        <p:spPr>
          <a:xfrm>
            <a:off x="640080" y="1691640"/>
            <a:ext cx="64008" cy="1650492"/>
          </a:xfrm>
          <a:prstGeom prst="rect">
            <a:avLst/>
          </a:prstGeom>
          <a:solidFill>
            <a:srgbClr val="0E7C7B"/>
          </a:solidFill>
          <a:ln/>
        </p:spPr>
        <p:txBody>
          <a:bodyPr/>
          <a:lstStyle/>
          <a:p>
            <a:endParaRPr lang="en-NL"/>
          </a:p>
        </p:txBody>
      </p:sp>
      <p:sp>
        <p:nvSpPr>
          <p:cNvPr id="8" name="Text 6"/>
          <p:cNvSpPr/>
          <p:nvPr/>
        </p:nvSpPr>
        <p:spPr>
          <a:xfrm>
            <a:off x="877824" y="1837944"/>
            <a:ext cx="10527487" cy="1357884"/>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The top-level README tells you:</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what the project is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what lives in each folder</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how to set up and render</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Every folder also has its OWN README (R/, data/, reports/, renders/...).</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E · DOCUMENTATION</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READMEs are written in Markdown</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640080" y="1691640"/>
            <a:ext cx="10911535" cy="2555748"/>
          </a:xfrm>
          <a:prstGeom prst="rect">
            <a:avLst/>
          </a:prstGeom>
          <a:solidFill>
            <a:srgbClr val="F1F4F7"/>
          </a:solidFill>
          <a:ln/>
        </p:spPr>
        <p:txBody>
          <a:bodyPr/>
          <a:lstStyle/>
          <a:p>
            <a:endParaRPr lang="en-NL"/>
          </a:p>
        </p:txBody>
      </p:sp>
      <p:sp>
        <p:nvSpPr>
          <p:cNvPr id="7" name="Shape 5"/>
          <p:cNvSpPr/>
          <p:nvPr/>
        </p:nvSpPr>
        <p:spPr>
          <a:xfrm>
            <a:off x="640080" y="1691640"/>
            <a:ext cx="64008" cy="2555748"/>
          </a:xfrm>
          <a:prstGeom prst="rect">
            <a:avLst/>
          </a:prstGeom>
          <a:solidFill>
            <a:srgbClr val="0E7C7B"/>
          </a:solidFill>
          <a:ln/>
        </p:spPr>
        <p:txBody>
          <a:bodyPr/>
          <a:lstStyle/>
          <a:p>
            <a:endParaRPr lang="en-NL"/>
          </a:p>
        </p:txBody>
      </p:sp>
      <p:sp>
        <p:nvSpPr>
          <p:cNvPr id="8" name="Text 6"/>
          <p:cNvSpPr/>
          <p:nvPr/>
        </p:nvSpPr>
        <p:spPr>
          <a:xfrm>
            <a:off x="877824" y="1837944"/>
            <a:ext cx="10527487" cy="2263140"/>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Heading            **bold**        *italic*</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bullet             [link](url)     `code`</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Plain text + a few symbols → clean, readable docs.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It's the "Documentation" box in the diagram.</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Why Markdown?  It's plain text, which means: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machine-readable and diff-able → Git can track every change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open → no app owns it; it opens anywhere, today and in ten years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nobody can silently re-format or lock it (unlike a .docx)</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F · PUBLISHING</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A recipe, its ingredients, and a cook</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640080" y="1691640"/>
            <a:ext cx="10911535" cy="1876806"/>
          </a:xfrm>
          <a:prstGeom prst="rect">
            <a:avLst/>
          </a:prstGeom>
          <a:solidFill>
            <a:srgbClr val="F1F4F7"/>
          </a:solidFill>
          <a:ln/>
        </p:spPr>
        <p:txBody>
          <a:bodyPr/>
          <a:lstStyle/>
          <a:p>
            <a:endParaRPr lang="en-NL"/>
          </a:p>
        </p:txBody>
      </p:sp>
      <p:sp>
        <p:nvSpPr>
          <p:cNvPr id="7" name="Shape 5"/>
          <p:cNvSpPr/>
          <p:nvPr/>
        </p:nvSpPr>
        <p:spPr>
          <a:xfrm>
            <a:off x="640080" y="1691640"/>
            <a:ext cx="64008" cy="1876806"/>
          </a:xfrm>
          <a:prstGeom prst="rect">
            <a:avLst/>
          </a:prstGeom>
          <a:solidFill>
            <a:srgbClr val="0E7C7B"/>
          </a:solidFill>
          <a:ln/>
        </p:spPr>
        <p:txBody>
          <a:bodyPr/>
          <a:lstStyle/>
          <a:p>
            <a:endParaRPr lang="en-NL"/>
          </a:p>
        </p:txBody>
      </p:sp>
      <p:sp>
        <p:nvSpPr>
          <p:cNvPr id="8" name="Text 6"/>
          <p:cNvSpPr/>
          <p:nvPr/>
        </p:nvSpPr>
        <p:spPr>
          <a:xfrm>
            <a:off x="877824" y="1837944"/>
            <a:ext cx="10527487" cy="1584198"/>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.qmd recipe       text + code chunks that say what to do      ┐</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 functions      the techniques (the numbers / the sauce)    │</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data/             the ingredients                             ├─ go into the dish</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references.bib    the citations                               ┘</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quarto render   (the cook follows the recipe)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website  /  manuscript</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F · PUBLISHING</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Quarto = prose + code → polished output</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33</a:t>
            </a:r>
            <a:endParaRPr lang="en-US" sz="900" dirty="0"/>
          </a:p>
        </p:txBody>
      </p:sp>
      <p:sp>
        <p:nvSpPr>
          <p:cNvPr id="6" name="Shape 4"/>
          <p:cNvSpPr/>
          <p:nvPr/>
        </p:nvSpPr>
        <p:spPr>
          <a:xfrm>
            <a:off x="640080" y="1691640"/>
            <a:ext cx="10911535" cy="2782062"/>
          </a:xfrm>
          <a:prstGeom prst="rect">
            <a:avLst/>
          </a:prstGeom>
          <a:solidFill>
            <a:srgbClr val="F1F4F7"/>
          </a:solidFill>
          <a:ln/>
        </p:spPr>
        <p:txBody>
          <a:bodyPr/>
          <a:lstStyle/>
          <a:p>
            <a:endParaRPr lang="en-NL"/>
          </a:p>
        </p:txBody>
      </p:sp>
      <p:sp>
        <p:nvSpPr>
          <p:cNvPr id="7" name="Shape 5"/>
          <p:cNvSpPr/>
          <p:nvPr/>
        </p:nvSpPr>
        <p:spPr>
          <a:xfrm>
            <a:off x="640080" y="1691640"/>
            <a:ext cx="64008" cy="2782062"/>
          </a:xfrm>
          <a:prstGeom prst="rect">
            <a:avLst/>
          </a:prstGeom>
          <a:solidFill>
            <a:srgbClr val="0E7C7B"/>
          </a:solidFill>
          <a:ln/>
        </p:spPr>
        <p:txBody>
          <a:bodyPr/>
          <a:lstStyle/>
          <a:p>
            <a:endParaRPr lang="en-NL"/>
          </a:p>
        </p:txBody>
      </p:sp>
      <p:sp>
        <p:nvSpPr>
          <p:cNvPr id="8" name="Text 6"/>
          <p:cNvSpPr/>
          <p:nvPr/>
        </p:nvSpPr>
        <p:spPr>
          <a:xfrm>
            <a:off x="877824" y="1837944"/>
            <a:ext cx="10527487" cy="2489454"/>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A .qmd file mixes: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text (Markdown)</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R code chunks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the results those chunks produce (tables, figures, numbers)</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Quarto runs the code and weaves results into the finished document.</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Why Quarto (and not R Markdown)?  Quarto is R Markdown's successor:</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one engine for R, Python, and Julia (not R-only)</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one source → HTML, PDF, Word, slides, whole websites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actively developed, batteries included (citations, cross-references)</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F · PUBLISHING</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A report is a recipe, read top to bottom</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34</a:t>
            </a:r>
            <a:endParaRPr lang="en-US" sz="900" dirty="0"/>
          </a:p>
        </p:txBody>
      </p:sp>
      <p:sp>
        <p:nvSpPr>
          <p:cNvPr id="6" name="Shape 4"/>
          <p:cNvSpPr/>
          <p:nvPr/>
        </p:nvSpPr>
        <p:spPr>
          <a:xfrm>
            <a:off x="640080" y="1691640"/>
            <a:ext cx="10911535" cy="1876806"/>
          </a:xfrm>
          <a:prstGeom prst="rect">
            <a:avLst/>
          </a:prstGeom>
          <a:solidFill>
            <a:srgbClr val="F1F4F7"/>
          </a:solidFill>
          <a:ln/>
        </p:spPr>
        <p:txBody>
          <a:bodyPr/>
          <a:lstStyle/>
          <a:p>
            <a:endParaRPr lang="en-NL"/>
          </a:p>
        </p:txBody>
      </p:sp>
      <p:sp>
        <p:nvSpPr>
          <p:cNvPr id="7" name="Shape 5"/>
          <p:cNvSpPr/>
          <p:nvPr/>
        </p:nvSpPr>
        <p:spPr>
          <a:xfrm>
            <a:off x="640080" y="1691640"/>
            <a:ext cx="64008" cy="1876806"/>
          </a:xfrm>
          <a:prstGeom prst="rect">
            <a:avLst/>
          </a:prstGeom>
          <a:solidFill>
            <a:srgbClr val="0E7C7B"/>
          </a:solidFill>
          <a:ln/>
        </p:spPr>
        <p:txBody>
          <a:bodyPr/>
          <a:lstStyle/>
          <a:p>
            <a:endParaRPr lang="en-NL"/>
          </a:p>
        </p:txBody>
      </p:sp>
      <p:sp>
        <p:nvSpPr>
          <p:cNvPr id="8" name="Text 6"/>
          <p:cNvSpPr/>
          <p:nvPr/>
        </p:nvSpPr>
        <p:spPr>
          <a:xfrm>
            <a:off x="877824" y="1837944"/>
            <a:ext cx="10527487" cy="1584198"/>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reports/webpage/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01-data-preparation.qmd   load + clean the data        → writes the processed cache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02-descriptives.qmd       summarise it                 → uses the cache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03-analysis.qmd           model it                     → uses the cache</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Each page runs top → bottom. Setup first, results last.</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They all call the shared functions in  R/functions/  (the kitchen techniques).</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F · PUBLISHING</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raw → processed → mock (what 01-data-preparation handles)</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640080" y="1691640"/>
            <a:ext cx="10911535" cy="971550"/>
          </a:xfrm>
          <a:prstGeom prst="rect">
            <a:avLst/>
          </a:prstGeom>
          <a:solidFill>
            <a:srgbClr val="F1F4F7"/>
          </a:solidFill>
          <a:ln/>
        </p:spPr>
        <p:txBody>
          <a:bodyPr/>
          <a:lstStyle/>
          <a:p>
            <a:endParaRPr lang="en-NL"/>
          </a:p>
        </p:txBody>
      </p:sp>
      <p:sp>
        <p:nvSpPr>
          <p:cNvPr id="7" name="Shape 5"/>
          <p:cNvSpPr/>
          <p:nvPr/>
        </p:nvSpPr>
        <p:spPr>
          <a:xfrm>
            <a:off x="640080" y="1691640"/>
            <a:ext cx="64008" cy="971550"/>
          </a:xfrm>
          <a:prstGeom prst="rect">
            <a:avLst/>
          </a:prstGeom>
          <a:solidFill>
            <a:srgbClr val="0E7C7B"/>
          </a:solidFill>
          <a:ln/>
        </p:spPr>
        <p:txBody>
          <a:bodyPr/>
          <a:lstStyle/>
          <a:p>
            <a:endParaRPr lang="en-NL"/>
          </a:p>
        </p:txBody>
      </p:sp>
      <p:sp>
        <p:nvSpPr>
          <p:cNvPr id="8" name="Text 6"/>
          <p:cNvSpPr/>
          <p:nvPr/>
        </p:nvSpPr>
        <p:spPr>
          <a:xfrm>
            <a:off x="877824" y="1837944"/>
            <a:ext cx="10527487" cy="678942"/>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data/raw/        original data, exactly as received — never hand-edited (private)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data/processed/  cleaned, analysis-ready — created BY a script, can be rebuilt (private)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data/mock/       synthetic stand-in — committed, safe to share, used in the workshop</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F · PUBLISHING</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Manage references once, cite everywhere</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640080" y="1691640"/>
            <a:ext cx="10911535" cy="2555748"/>
          </a:xfrm>
          <a:prstGeom prst="rect">
            <a:avLst/>
          </a:prstGeom>
          <a:solidFill>
            <a:srgbClr val="F1F4F7"/>
          </a:solidFill>
          <a:ln/>
        </p:spPr>
        <p:txBody>
          <a:bodyPr/>
          <a:lstStyle/>
          <a:p>
            <a:endParaRPr lang="en-NL"/>
          </a:p>
        </p:txBody>
      </p:sp>
      <p:sp>
        <p:nvSpPr>
          <p:cNvPr id="7" name="Shape 5"/>
          <p:cNvSpPr/>
          <p:nvPr/>
        </p:nvSpPr>
        <p:spPr>
          <a:xfrm>
            <a:off x="640080" y="1691640"/>
            <a:ext cx="64008" cy="2555748"/>
          </a:xfrm>
          <a:prstGeom prst="rect">
            <a:avLst/>
          </a:prstGeom>
          <a:solidFill>
            <a:srgbClr val="0E7C7B"/>
          </a:solidFill>
          <a:ln/>
        </p:spPr>
        <p:txBody>
          <a:bodyPr/>
          <a:lstStyle/>
          <a:p>
            <a:endParaRPr lang="en-NL"/>
          </a:p>
        </p:txBody>
      </p:sp>
      <p:sp>
        <p:nvSpPr>
          <p:cNvPr id="8" name="Text 6"/>
          <p:cNvSpPr/>
          <p:nvPr/>
        </p:nvSpPr>
        <p:spPr>
          <a:xfrm>
            <a:off x="877824" y="1837944"/>
            <a:ext cx="10527487" cy="2263140"/>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Zotero      collects your papers and generates citations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export</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references/references.bib      ONE shared bibliography</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used by the website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used by the manuscript</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Why Zotero?  Free and open (vs paid managers), and it plugs into</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Word, Quarto, and Overleaf — one library, cited everywhere.</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F · PUBLISHING</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Website and manuscript, same numbers</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37</a:t>
            </a:r>
            <a:endParaRPr lang="en-US" sz="900" dirty="0"/>
          </a:p>
        </p:txBody>
      </p:sp>
      <p:sp>
        <p:nvSpPr>
          <p:cNvPr id="6" name="Shape 4"/>
          <p:cNvSpPr/>
          <p:nvPr/>
        </p:nvSpPr>
        <p:spPr>
          <a:xfrm>
            <a:off x="640080" y="1691640"/>
            <a:ext cx="10911535" cy="1197864"/>
          </a:xfrm>
          <a:prstGeom prst="rect">
            <a:avLst/>
          </a:prstGeom>
          <a:solidFill>
            <a:srgbClr val="F1F4F7"/>
          </a:solidFill>
          <a:ln/>
        </p:spPr>
        <p:txBody>
          <a:bodyPr/>
          <a:lstStyle/>
          <a:p>
            <a:endParaRPr lang="en-NL"/>
          </a:p>
        </p:txBody>
      </p:sp>
      <p:sp>
        <p:nvSpPr>
          <p:cNvPr id="7" name="Shape 5"/>
          <p:cNvSpPr/>
          <p:nvPr/>
        </p:nvSpPr>
        <p:spPr>
          <a:xfrm>
            <a:off x="640080" y="1691640"/>
            <a:ext cx="64008" cy="1197864"/>
          </a:xfrm>
          <a:prstGeom prst="rect">
            <a:avLst/>
          </a:prstGeom>
          <a:solidFill>
            <a:srgbClr val="0E7C7B"/>
          </a:solidFill>
          <a:ln/>
        </p:spPr>
        <p:txBody>
          <a:bodyPr/>
          <a:lstStyle/>
          <a:p>
            <a:endParaRPr lang="en-NL"/>
          </a:p>
        </p:txBody>
      </p:sp>
      <p:sp>
        <p:nvSpPr>
          <p:cNvPr id="8" name="Text 6"/>
          <p:cNvSpPr/>
          <p:nvPr/>
        </p:nvSpPr>
        <p:spPr>
          <a:xfrm>
            <a:off x="877824" y="1837944"/>
            <a:ext cx="10527487" cy="905256"/>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reports/webpage/      ──quarto render──▶  renders/webpage/      (HTML website)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reports/manuscript/   ──quarto render──▶  renders/manuscript/   (LaTeX → PDF paper)</a:t>
            </a:r>
            <a:endParaRPr lang="en-US" sz="1350" dirty="0"/>
          </a:p>
          <a:p>
            <a:pPr marL="0" indent="0" algn="l">
              <a:lnSpc>
                <a:spcPct val="112000"/>
              </a:lnSpc>
              <a:buNone/>
            </a:pP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Both reuse R/. Same data, same functions, two presentations.</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F · PUBLISHING    ·    EXERCISE · STEP 8</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Step 8 — build the site locally</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640080" y="1691640"/>
            <a:ext cx="10911535" cy="518922"/>
          </a:xfrm>
          <a:prstGeom prst="rect">
            <a:avLst/>
          </a:prstGeom>
          <a:solidFill>
            <a:srgbClr val="F1F4F7"/>
          </a:solidFill>
          <a:ln/>
        </p:spPr>
        <p:txBody>
          <a:bodyPr/>
          <a:lstStyle/>
          <a:p>
            <a:endParaRPr lang="en-NL"/>
          </a:p>
        </p:txBody>
      </p:sp>
      <p:sp>
        <p:nvSpPr>
          <p:cNvPr id="7" name="Shape 5"/>
          <p:cNvSpPr/>
          <p:nvPr/>
        </p:nvSpPr>
        <p:spPr>
          <a:xfrm>
            <a:off x="640080" y="1691640"/>
            <a:ext cx="64008" cy="518922"/>
          </a:xfrm>
          <a:prstGeom prst="rect">
            <a:avLst/>
          </a:prstGeom>
          <a:solidFill>
            <a:srgbClr val="0E7C7B"/>
          </a:solidFill>
          <a:ln/>
        </p:spPr>
        <p:txBody>
          <a:bodyPr/>
          <a:lstStyle/>
          <a:p>
            <a:endParaRPr lang="en-NL"/>
          </a:p>
        </p:txBody>
      </p:sp>
      <p:sp>
        <p:nvSpPr>
          <p:cNvPr id="8" name="Text 6"/>
          <p:cNvSpPr/>
          <p:nvPr/>
        </p:nvSpPr>
        <p:spPr>
          <a:xfrm>
            <a:off x="10637215" y="1728216"/>
            <a:ext cx="822960" cy="201168"/>
          </a:xfrm>
          <a:prstGeom prst="rect">
            <a:avLst/>
          </a:prstGeom>
          <a:noFill/>
          <a:ln/>
        </p:spPr>
        <p:txBody>
          <a:bodyPr wrap="square" rtlCol="0" anchor="ctr"/>
          <a:lstStyle/>
          <a:p>
            <a:pPr marL="0" indent="0" algn="r">
              <a:buNone/>
            </a:pPr>
            <a:r>
              <a:rPr lang="en-US" sz="800" b="1" kern="0" spc="100" dirty="0">
                <a:solidFill>
                  <a:srgbClr val="7C8A99"/>
                </a:solidFill>
                <a:latin typeface="Calibri" pitchFamily="34" charset="0"/>
                <a:ea typeface="Calibri" pitchFamily="34" charset="-122"/>
                <a:cs typeface="Calibri" pitchFamily="34" charset="-120"/>
              </a:rPr>
              <a:t>BASH</a:t>
            </a:r>
            <a:endParaRPr lang="en-US" sz="800" dirty="0"/>
          </a:p>
        </p:txBody>
      </p:sp>
      <p:sp>
        <p:nvSpPr>
          <p:cNvPr id="9" name="Text 7"/>
          <p:cNvSpPr/>
          <p:nvPr/>
        </p:nvSpPr>
        <p:spPr>
          <a:xfrm>
            <a:off x="877824" y="1837944"/>
            <a:ext cx="10527487" cy="226314"/>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quarto render reports/webpage</a:t>
            </a:r>
            <a:endParaRPr lang="en-US" sz="1350" dirty="0"/>
          </a:p>
        </p:txBody>
      </p:sp>
      <p:sp>
        <p:nvSpPr>
          <p:cNvPr id="10" name="Shape 8"/>
          <p:cNvSpPr/>
          <p:nvPr/>
        </p:nvSpPr>
        <p:spPr>
          <a:xfrm>
            <a:off x="640080" y="2356866"/>
            <a:ext cx="10911535" cy="971550"/>
          </a:xfrm>
          <a:prstGeom prst="rect">
            <a:avLst/>
          </a:prstGeom>
          <a:solidFill>
            <a:srgbClr val="F1F4F7"/>
          </a:solidFill>
          <a:ln/>
        </p:spPr>
        <p:txBody>
          <a:bodyPr/>
          <a:lstStyle/>
          <a:p>
            <a:endParaRPr lang="en-NL"/>
          </a:p>
        </p:txBody>
      </p:sp>
      <p:sp>
        <p:nvSpPr>
          <p:cNvPr id="11" name="Shape 9"/>
          <p:cNvSpPr/>
          <p:nvPr/>
        </p:nvSpPr>
        <p:spPr>
          <a:xfrm>
            <a:off x="640080" y="2356866"/>
            <a:ext cx="64008" cy="971550"/>
          </a:xfrm>
          <a:prstGeom prst="rect">
            <a:avLst/>
          </a:prstGeom>
          <a:solidFill>
            <a:srgbClr val="0E7C7B"/>
          </a:solidFill>
          <a:ln/>
        </p:spPr>
        <p:txBody>
          <a:bodyPr/>
          <a:lstStyle/>
          <a:p>
            <a:endParaRPr lang="en-NL"/>
          </a:p>
        </p:txBody>
      </p:sp>
      <p:sp>
        <p:nvSpPr>
          <p:cNvPr id="12" name="Text 10"/>
          <p:cNvSpPr/>
          <p:nvPr/>
        </p:nvSpPr>
        <p:spPr>
          <a:xfrm>
            <a:off x="877824" y="2503170"/>
            <a:ext cx="10527487" cy="678942"/>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rebuilds renders/webpage/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Open renders/webpage/index.html to see it.</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(Quarto ships inside RStudio — no separate install needed.)</a:t>
            </a:r>
            <a:endParaRPr lang="en-US" sz="1350" dirty="0"/>
          </a:p>
        </p:txBody>
      </p:sp>
      <p:sp>
        <p:nvSpPr>
          <p:cNvPr id="13" name="Shape 11"/>
          <p:cNvSpPr/>
          <p:nvPr/>
        </p:nvSpPr>
        <p:spPr>
          <a:xfrm>
            <a:off x="640080" y="3474720"/>
            <a:ext cx="10911535" cy="1680210"/>
          </a:xfrm>
          <a:prstGeom prst="rect">
            <a:avLst/>
          </a:prstGeom>
          <a:solidFill>
            <a:srgbClr val="FBF0DA"/>
          </a:solidFill>
          <a:ln/>
        </p:spPr>
        <p:txBody>
          <a:bodyPr/>
          <a:lstStyle/>
          <a:p>
            <a:endParaRPr lang="en-NL"/>
          </a:p>
        </p:txBody>
      </p:sp>
      <p:sp>
        <p:nvSpPr>
          <p:cNvPr id="14" name="Shape 12"/>
          <p:cNvSpPr/>
          <p:nvPr/>
        </p:nvSpPr>
        <p:spPr>
          <a:xfrm>
            <a:off x="640080" y="3474720"/>
            <a:ext cx="64008" cy="1680210"/>
          </a:xfrm>
          <a:prstGeom prst="rect">
            <a:avLst/>
          </a:prstGeom>
          <a:solidFill>
            <a:srgbClr val="9C5A00"/>
          </a:solidFill>
          <a:ln/>
        </p:spPr>
        <p:txBody>
          <a:bodyPr/>
          <a:lstStyle/>
          <a:p>
            <a:endParaRPr lang="en-NL"/>
          </a:p>
        </p:txBody>
      </p:sp>
      <p:sp>
        <p:nvSpPr>
          <p:cNvPr id="15" name="Text 13"/>
          <p:cNvSpPr/>
          <p:nvPr/>
        </p:nvSpPr>
        <p:spPr>
          <a:xfrm>
            <a:off x="877824" y="3547872"/>
            <a:ext cx="10527487" cy="237744"/>
          </a:xfrm>
          <a:prstGeom prst="rect">
            <a:avLst/>
          </a:prstGeom>
          <a:noFill/>
          <a:ln/>
        </p:spPr>
        <p:txBody>
          <a:bodyPr wrap="square" rtlCol="0" anchor="ctr"/>
          <a:lstStyle/>
          <a:p>
            <a:pPr marL="0" indent="0">
              <a:buNone/>
            </a:pPr>
            <a:r>
              <a:rPr lang="en-US" sz="1050" b="1" kern="0" spc="150" dirty="0">
                <a:solidFill>
                  <a:srgbClr val="9C5A00"/>
                </a:solidFill>
                <a:latin typeface="Calibri" pitchFamily="34" charset="0"/>
                <a:ea typeface="Calibri" pitchFamily="34" charset="-122"/>
                <a:cs typeface="Calibri" pitchFamily="34" charset="-120"/>
              </a:rPr>
              <a:t>⚠  WATCH OUT (COMMON BLOCKERS)</a:t>
            </a:r>
            <a:endParaRPr lang="en-US" sz="1050" dirty="0"/>
          </a:p>
        </p:txBody>
      </p:sp>
      <p:sp>
        <p:nvSpPr>
          <p:cNvPr id="16" name="Text 14"/>
          <p:cNvSpPr/>
          <p:nvPr/>
        </p:nvSpPr>
        <p:spPr>
          <a:xfrm>
            <a:off x="877824" y="3803904"/>
            <a:ext cx="10527487" cy="1223010"/>
          </a:xfrm>
          <a:prstGeom prst="rect">
            <a:avLst/>
          </a:prstGeom>
          <a:noFill/>
          <a:ln/>
        </p:spPr>
        <p:txBody>
          <a:bodyPr wrap="square" rtlCol="0" anchor="t"/>
          <a:lstStyle/>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Run this in the TERMINAL tab, not the R Console.</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Render the WHOLE site (reports/webpage), not a single page — the first</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page builds the data/processed cache the others depend on.</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If "quarto: command not found", update RStudio (recent versions bundle</a:t>
            </a:r>
            <a:endParaRPr lang="en-US" sz="1250" dirty="0"/>
          </a:p>
          <a:p>
            <a:pPr marL="0" indent="0">
              <a:lnSpc>
                <a:spcPct val="112000"/>
              </a:lnSpc>
              <a:buNone/>
            </a:pPr>
            <a:r>
              <a:rPr lang="en-US" sz="1250" dirty="0">
                <a:solidFill>
                  <a:srgbClr val="243748"/>
                </a:solidFill>
                <a:latin typeface="Consolas" pitchFamily="34" charset="0"/>
                <a:ea typeface="Consolas" pitchFamily="34" charset="-122"/>
                <a:cs typeface="Consolas" pitchFamily="34" charset="-120"/>
              </a:rPr>
              <a:t>  Quarto) or install from quarto.org.</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C2B3A"/>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E7C7B"/>
          </a:solidFill>
          <a:ln/>
        </p:spPr>
        <p:txBody>
          <a:bodyPr/>
          <a:lstStyle/>
          <a:p>
            <a:endParaRPr lang="en-NL"/>
          </a:p>
        </p:txBody>
      </p:sp>
      <p:sp>
        <p:nvSpPr>
          <p:cNvPr id="3" name="Text 1"/>
          <p:cNvSpPr/>
          <p:nvPr/>
        </p:nvSpPr>
        <p:spPr>
          <a:xfrm>
            <a:off x="914400" y="1554480"/>
            <a:ext cx="10362895" cy="365760"/>
          </a:xfrm>
          <a:prstGeom prst="rect">
            <a:avLst/>
          </a:prstGeom>
          <a:noFill/>
          <a:ln/>
        </p:spPr>
        <p:txBody>
          <a:bodyPr wrap="square" rtlCol="0" anchor="ctr"/>
          <a:lstStyle/>
          <a:p>
            <a:pPr marL="0" indent="0" algn="ctr">
              <a:buNone/>
            </a:pPr>
            <a:r>
              <a:rPr lang="en-US" sz="1400" b="1" kern="0" spc="200" dirty="0">
                <a:solidFill>
                  <a:srgbClr val="8FD0CC"/>
                </a:solidFill>
                <a:latin typeface="Calibri" pitchFamily="34" charset="0"/>
                <a:ea typeface="Calibri" pitchFamily="34" charset="-122"/>
                <a:cs typeface="Calibri" pitchFamily="34" charset="-120"/>
              </a:rPr>
              <a:t>BREAK</a:t>
            </a:r>
            <a:endParaRPr lang="en-US" sz="1400" dirty="0"/>
          </a:p>
        </p:txBody>
      </p:sp>
      <p:sp>
        <p:nvSpPr>
          <p:cNvPr id="4" name="Text 2"/>
          <p:cNvSpPr/>
          <p:nvPr/>
        </p:nvSpPr>
        <p:spPr>
          <a:xfrm>
            <a:off x="914400" y="2057400"/>
            <a:ext cx="10362895" cy="822960"/>
          </a:xfrm>
          <a:prstGeom prst="rect">
            <a:avLst/>
          </a:prstGeom>
          <a:noFill/>
          <a:ln/>
        </p:spPr>
        <p:txBody>
          <a:bodyPr wrap="square" rtlCol="0" anchor="ctr"/>
          <a:lstStyle/>
          <a:p>
            <a:pPr marL="0" indent="0" algn="ctr">
              <a:buNone/>
            </a:pPr>
            <a:r>
              <a:rPr lang="en-US" sz="4000" b="1" dirty="0">
                <a:solidFill>
                  <a:srgbClr val="FFFFFF"/>
                </a:solidFill>
                <a:latin typeface="Georgia" pitchFamily="34" charset="0"/>
                <a:ea typeface="Georgia" pitchFamily="34" charset="-122"/>
                <a:cs typeface="Georgia" pitchFamily="34" charset="-120"/>
              </a:rPr>
              <a:t>Coffee break — 15:00–15:30</a:t>
            </a:r>
            <a:endParaRPr lang="en-US" sz="4000" dirty="0"/>
          </a:p>
        </p:txBody>
      </p:sp>
      <p:sp>
        <p:nvSpPr>
          <p:cNvPr id="5" name="Shape 3"/>
          <p:cNvSpPr/>
          <p:nvPr/>
        </p:nvSpPr>
        <p:spPr>
          <a:xfrm>
            <a:off x="2194560" y="3246120"/>
            <a:ext cx="7802575" cy="2468880"/>
          </a:xfrm>
          <a:prstGeom prst="roundRect">
            <a:avLst>
              <a:gd name="adj" fmla="val 2222"/>
            </a:avLst>
          </a:prstGeom>
          <a:solidFill>
            <a:srgbClr val="26384B"/>
          </a:solidFill>
          <a:ln/>
        </p:spPr>
        <p:txBody>
          <a:bodyPr/>
          <a:lstStyle/>
          <a:p>
            <a:endParaRPr lang="en-NL"/>
          </a:p>
        </p:txBody>
      </p:sp>
      <p:sp>
        <p:nvSpPr>
          <p:cNvPr id="6" name="Text 4"/>
          <p:cNvSpPr/>
          <p:nvPr/>
        </p:nvSpPr>
        <p:spPr>
          <a:xfrm>
            <a:off x="2468880" y="3383280"/>
            <a:ext cx="7253935" cy="2194560"/>
          </a:xfrm>
          <a:prstGeom prst="rect">
            <a:avLst/>
          </a:prstGeom>
          <a:noFill/>
          <a:ln/>
        </p:spPr>
        <p:txBody>
          <a:bodyPr wrap="square" rtlCol="0" anchor="ctr"/>
          <a:lstStyle/>
          <a:p>
            <a:pPr marL="0" indent="0" algn="l">
              <a:lnSpc>
                <a:spcPct val="130000"/>
              </a:lnSpc>
              <a:buNone/>
            </a:pPr>
            <a:r>
              <a:rPr lang="en-US" sz="1500" dirty="0">
                <a:solidFill>
                  <a:srgbClr val="DCE7E7"/>
                </a:solidFill>
                <a:latin typeface="Consolas" pitchFamily="34" charset="0"/>
                <a:ea typeface="Consolas" pitchFamily="34" charset="-122"/>
                <a:cs typeface="Consolas" pitchFamily="34" charset="-120"/>
              </a:rPr>
              <a:t>Back at 15:30.</a:t>
            </a:r>
            <a:endParaRPr lang="en-US" sz="1500" dirty="0"/>
          </a:p>
          <a:p>
            <a:pPr marL="0" indent="0" algn="l">
              <a:lnSpc>
                <a:spcPct val="130000"/>
              </a:lnSpc>
              <a:buNone/>
            </a:pPr>
            <a:endParaRPr lang="en-US" sz="1500" dirty="0"/>
          </a:p>
          <a:p>
            <a:pPr marL="0" indent="0" algn="l">
              <a:lnSpc>
                <a:spcPct val="130000"/>
              </a:lnSpc>
              <a:buNone/>
            </a:pPr>
            <a:r>
              <a:rPr lang="en-US" sz="1500" dirty="0">
                <a:solidFill>
                  <a:srgbClr val="DCE7E7"/>
                </a:solidFill>
                <a:latin typeface="Consolas" pitchFamily="34" charset="0"/>
                <a:ea typeface="Consolas" pitchFamily="34" charset="-122"/>
                <a:cs typeface="Consolas" pitchFamily="34" charset="-120"/>
              </a:rPr>
              <a:t>✓ So far: environment restored · website rendered locally — the Day 1 finish line</a:t>
            </a:r>
            <a:endParaRPr lang="en-US" sz="1500" dirty="0"/>
          </a:p>
          <a:p>
            <a:pPr marL="0" indent="0" algn="l">
              <a:lnSpc>
                <a:spcPct val="130000"/>
              </a:lnSpc>
              <a:buNone/>
            </a:pPr>
            <a:r>
              <a:rPr lang="en-US" sz="1500" dirty="0">
                <a:solidFill>
                  <a:srgbClr val="DCE7E7"/>
                </a:solidFill>
                <a:latin typeface="Consolas" pitchFamily="34" charset="0"/>
                <a:ea typeface="Consolas" pitchFamily="34" charset="-122"/>
                <a:cs typeface="Consolas" pitchFamily="34" charset="-120"/>
              </a:rPr>
              <a:t>→ Next: the optional second output (the PDF manuscript), common blockers, and</a:t>
            </a:r>
            <a:endParaRPr lang="en-US" sz="1500" dirty="0"/>
          </a:p>
          <a:p>
            <a:pPr marL="0" indent="0" algn="l">
              <a:lnSpc>
                <a:spcPct val="130000"/>
              </a:lnSpc>
              <a:buNone/>
            </a:pPr>
            <a:r>
              <a:rPr lang="en-US" sz="1500" dirty="0">
                <a:solidFill>
                  <a:srgbClr val="DCE7E7"/>
                </a:solidFill>
                <a:latin typeface="Consolas" pitchFamily="34" charset="0"/>
                <a:ea typeface="Consolas" pitchFamily="34" charset="-122"/>
                <a:cs typeface="Consolas" pitchFamily="34" charset="-120"/>
              </a:rPr>
              <a:t>        the end-of-day checklist</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F · PUBLISHING    ·    OPTIONAL</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The second output — the paper, and how co-authors join in</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39</a:t>
            </a:r>
            <a:endParaRPr lang="en-US" sz="900" dirty="0"/>
          </a:p>
        </p:txBody>
      </p:sp>
      <p:sp>
        <p:nvSpPr>
          <p:cNvPr id="6" name="Shape 4"/>
          <p:cNvSpPr/>
          <p:nvPr/>
        </p:nvSpPr>
        <p:spPr>
          <a:xfrm>
            <a:off x="640080" y="1691640"/>
            <a:ext cx="10911535" cy="3310128"/>
          </a:xfrm>
          <a:prstGeom prst="rect">
            <a:avLst/>
          </a:prstGeom>
          <a:solidFill>
            <a:srgbClr val="F1F4F7"/>
          </a:solidFill>
          <a:ln/>
        </p:spPr>
        <p:txBody>
          <a:bodyPr/>
          <a:lstStyle/>
          <a:p>
            <a:endParaRPr lang="en-NL"/>
          </a:p>
        </p:txBody>
      </p:sp>
      <p:sp>
        <p:nvSpPr>
          <p:cNvPr id="7" name="Shape 5"/>
          <p:cNvSpPr/>
          <p:nvPr/>
        </p:nvSpPr>
        <p:spPr>
          <a:xfrm>
            <a:off x="640080" y="1691640"/>
            <a:ext cx="64008" cy="3310128"/>
          </a:xfrm>
          <a:prstGeom prst="rect">
            <a:avLst/>
          </a:prstGeom>
          <a:solidFill>
            <a:srgbClr val="0E7C7B"/>
          </a:solidFill>
          <a:ln/>
        </p:spPr>
        <p:txBody>
          <a:bodyPr/>
          <a:lstStyle/>
          <a:p>
            <a:endParaRPr lang="en-NL"/>
          </a:p>
        </p:txBody>
      </p:sp>
      <p:sp>
        <p:nvSpPr>
          <p:cNvPr id="8" name="Text 6"/>
          <p:cNvSpPr/>
          <p:nvPr/>
        </p:nvSpPr>
        <p:spPr>
          <a:xfrm>
            <a:off x="877824" y="1837944"/>
            <a:ext cx="10527487" cy="3017520"/>
          </a:xfrm>
          <a:prstGeom prst="rect">
            <a:avLst/>
          </a:prstGeom>
          <a:noFill/>
          <a:ln/>
        </p:spPr>
        <p:txBody>
          <a:bodyPr wrap="square" rtlCol="0" anchor="t"/>
          <a:lstStyle/>
          <a:p>
            <a:pPr marL="0" indent="0" algn="l">
              <a:lnSpc>
                <a:spcPct val="112000"/>
              </a:lnSpc>
              <a:buNone/>
            </a:pPr>
            <a:r>
              <a:rPr lang="en-US" sz="1200" dirty="0">
                <a:solidFill>
                  <a:srgbClr val="243748"/>
                </a:solidFill>
                <a:latin typeface="Consolas" pitchFamily="34" charset="0"/>
                <a:ea typeface="Consolas" pitchFamily="34" charset="-122"/>
                <a:cs typeface="Consolas" pitchFamily="34" charset="-120"/>
              </a:rPr>
              <a:t>The website is today's finish line. The manuscript is the SAME engine, second dish.</a:t>
            </a:r>
            <a:endParaRPr lang="en-US" sz="1200" dirty="0"/>
          </a:p>
          <a:p>
            <a:pPr marL="0" indent="0" algn="l">
              <a:lnSpc>
                <a:spcPct val="112000"/>
              </a:lnSpc>
              <a:buNone/>
            </a:pPr>
            <a:endParaRPr lang="en-US" sz="1200" dirty="0"/>
          </a:p>
          <a:p>
            <a:pPr marL="0" indent="0" algn="l">
              <a:lnSpc>
                <a:spcPct val="112000"/>
              </a:lnSpc>
              <a:buNone/>
            </a:pPr>
            <a:r>
              <a:rPr lang="en-US" sz="1200" dirty="0">
                <a:solidFill>
                  <a:srgbClr val="243748"/>
                </a:solidFill>
                <a:latin typeface="Consolas" pitchFamily="34" charset="0"/>
                <a:ea typeface="Consolas" pitchFamily="34" charset="-122"/>
                <a:cs typeface="Consolas" pitchFamily="34" charset="-120"/>
              </a:rPr>
              <a:t>To build the PDF you need a LaTeX engine (one-time install):</a:t>
            </a:r>
            <a:endParaRPr lang="en-US" sz="1200" dirty="0"/>
          </a:p>
          <a:p>
            <a:pPr marL="0" indent="0" algn="l">
              <a:lnSpc>
                <a:spcPct val="112000"/>
              </a:lnSpc>
              <a:buNone/>
            </a:pPr>
            <a:r>
              <a:rPr lang="en-US" sz="1200" dirty="0">
                <a:solidFill>
                  <a:srgbClr val="243748"/>
                </a:solidFill>
                <a:latin typeface="Consolas" pitchFamily="34" charset="0"/>
                <a:ea typeface="Consolas" pitchFamily="34" charset="-122"/>
                <a:cs typeface="Consolas" pitchFamily="34" charset="-120"/>
              </a:rPr>
              <a:t>  in the R Console:</a:t>
            </a:r>
            <a:endParaRPr lang="en-US" sz="1200" dirty="0"/>
          </a:p>
          <a:p>
            <a:pPr marL="0" indent="0" algn="l">
              <a:lnSpc>
                <a:spcPct val="112000"/>
              </a:lnSpc>
              <a:buNone/>
            </a:pPr>
            <a:r>
              <a:rPr lang="en-US" sz="1200" dirty="0">
                <a:solidFill>
                  <a:srgbClr val="243748"/>
                </a:solidFill>
                <a:latin typeface="Consolas" pitchFamily="34" charset="0"/>
                <a:ea typeface="Consolas" pitchFamily="34" charset="-122"/>
                <a:cs typeface="Consolas" pitchFamily="34" charset="-120"/>
              </a:rPr>
              <a:t>    install.packages("tinytex")</a:t>
            </a:r>
            <a:endParaRPr lang="en-US" sz="1200" dirty="0"/>
          </a:p>
          <a:p>
            <a:pPr marL="0" indent="0" algn="l">
              <a:lnSpc>
                <a:spcPct val="112000"/>
              </a:lnSpc>
              <a:buNone/>
            </a:pPr>
            <a:r>
              <a:rPr lang="en-US" sz="1200" dirty="0">
                <a:solidFill>
                  <a:srgbClr val="243748"/>
                </a:solidFill>
                <a:latin typeface="Consolas" pitchFamily="34" charset="0"/>
                <a:ea typeface="Consolas" pitchFamily="34" charset="-122"/>
                <a:cs typeface="Consolas" pitchFamily="34" charset="-120"/>
              </a:rPr>
              <a:t>    tinytex::install_tinytex()</a:t>
            </a:r>
            <a:endParaRPr lang="en-US" sz="1200" dirty="0"/>
          </a:p>
          <a:p>
            <a:pPr marL="0" indent="0" algn="l">
              <a:lnSpc>
                <a:spcPct val="112000"/>
              </a:lnSpc>
              <a:buNone/>
            </a:pPr>
            <a:endParaRPr lang="en-US" sz="1200" dirty="0"/>
          </a:p>
          <a:p>
            <a:pPr marL="0" indent="0" algn="l">
              <a:lnSpc>
                <a:spcPct val="112000"/>
              </a:lnSpc>
              <a:buNone/>
            </a:pPr>
            <a:r>
              <a:rPr lang="en-US" sz="1200" dirty="0">
                <a:solidFill>
                  <a:srgbClr val="243748"/>
                </a:solidFill>
                <a:latin typeface="Consolas" pitchFamily="34" charset="0"/>
                <a:ea typeface="Consolas" pitchFamily="34" charset="-122"/>
                <a:cs typeface="Consolas" pitchFamily="34" charset="-120"/>
              </a:rPr>
              <a:t>Then:</a:t>
            </a:r>
            <a:endParaRPr lang="en-US" sz="1200" dirty="0"/>
          </a:p>
          <a:p>
            <a:pPr marL="0" indent="0" algn="l">
              <a:lnSpc>
                <a:spcPct val="112000"/>
              </a:lnSpc>
              <a:buNone/>
            </a:pPr>
            <a:r>
              <a:rPr lang="en-US" sz="1200" dirty="0">
                <a:solidFill>
                  <a:srgbClr val="243748"/>
                </a:solidFill>
                <a:latin typeface="Consolas" pitchFamily="34" charset="0"/>
                <a:ea typeface="Consolas" pitchFamily="34" charset="-122"/>
                <a:cs typeface="Consolas" pitchFamily="34" charset="-120"/>
              </a:rPr>
              <a:t>  quarto render reports/manuscript</a:t>
            </a:r>
            <a:endParaRPr lang="en-US" sz="1200" dirty="0"/>
          </a:p>
          <a:p>
            <a:pPr marL="0" indent="0" algn="l">
              <a:lnSpc>
                <a:spcPct val="112000"/>
              </a:lnSpc>
              <a:buNone/>
            </a:pPr>
            <a:r>
              <a:rPr lang="en-US" sz="1200" dirty="0">
                <a:solidFill>
                  <a:srgbClr val="243748"/>
                </a:solidFill>
                <a:latin typeface="Consolas" pitchFamily="34" charset="0"/>
                <a:ea typeface="Consolas" pitchFamily="34" charset="-122"/>
                <a:cs typeface="Consolas" pitchFamily="34" charset="-120"/>
              </a:rPr>
              <a:t>    → generates the data-driven parts (methods, results, figures, tables)</a:t>
            </a:r>
            <a:endParaRPr lang="en-US" sz="1200" dirty="0"/>
          </a:p>
          <a:p>
            <a:pPr marL="0" indent="0" algn="l">
              <a:lnSpc>
                <a:spcPct val="112000"/>
              </a:lnSpc>
              <a:buNone/>
            </a:pPr>
            <a:r>
              <a:rPr lang="en-US" sz="1200" dirty="0">
                <a:solidFill>
                  <a:srgbClr val="243748"/>
                </a:solidFill>
                <a:latin typeface="Consolas" pitchFamily="34" charset="0"/>
                <a:ea typeface="Consolas" pitchFamily="34" charset="-122"/>
                <a:cs typeface="Consolas" pitchFamily="34" charset="-120"/>
              </a:rPr>
              <a:t>    → renders/manuscript/main.tex assembles them into manuscript.pdf</a:t>
            </a:r>
            <a:endParaRPr lang="en-US" sz="1200" dirty="0"/>
          </a:p>
          <a:p>
            <a:pPr marL="0" indent="0" algn="l">
              <a:lnSpc>
                <a:spcPct val="112000"/>
              </a:lnSpc>
              <a:buNone/>
            </a:pPr>
            <a:endParaRPr lang="en-US" sz="1200" dirty="0"/>
          </a:p>
          <a:p>
            <a:pPr marL="0" indent="0" algn="l">
              <a:lnSpc>
                <a:spcPct val="112000"/>
              </a:lnSpc>
              <a:buNone/>
            </a:pPr>
            <a:r>
              <a:rPr lang="en-US" sz="1200" dirty="0">
                <a:solidFill>
                  <a:srgbClr val="243748"/>
                </a:solidFill>
                <a:latin typeface="Consolas" pitchFamily="34" charset="0"/>
                <a:ea typeface="Consolas" pitchFamily="34" charset="-122"/>
                <a:cs typeface="Consolas" pitchFamily="34" charset="-120"/>
              </a:rPr>
              <a:t>Overleaf:</a:t>
            </a:r>
            <a:endParaRPr lang="en-US" sz="1200" dirty="0"/>
          </a:p>
          <a:p>
            <a:pPr marL="0" indent="0" algn="l">
              <a:lnSpc>
                <a:spcPct val="112000"/>
              </a:lnSpc>
              <a:buNone/>
            </a:pPr>
            <a:r>
              <a:rPr lang="en-US" sz="1200" dirty="0">
                <a:solidFill>
                  <a:srgbClr val="243748"/>
                </a:solidFill>
                <a:latin typeface="Consolas" pitchFamily="34" charset="0"/>
                <a:ea typeface="Consolas" pitchFamily="34" charset="-122"/>
                <a:cs typeface="Consolas" pitchFamily="34" charset="-120"/>
              </a:rPr>
              <a:t>  the self-contained renders/manuscript/ folder can sync to Overleaf</a:t>
            </a:r>
            <a:endParaRPr lang="en-US" sz="1200" dirty="0"/>
          </a:p>
          <a:p>
            <a:pPr marL="0" indent="0" algn="l">
              <a:lnSpc>
                <a:spcPct val="112000"/>
              </a:lnSpc>
              <a:buNone/>
            </a:pPr>
            <a:r>
              <a:rPr lang="en-US" sz="1200" dirty="0">
                <a:solidFill>
                  <a:srgbClr val="243748"/>
                </a:solidFill>
                <a:latin typeface="Consolas" pitchFamily="34" charset="0"/>
                <a:ea typeface="Consolas" pitchFamily="34" charset="-122"/>
                <a:cs typeface="Consolas" pitchFamily="34" charset="-120"/>
              </a:rPr>
              <a:t>  → online, collaborative LaTeX writing with co-authors</a:t>
            </a:r>
            <a:endParaRPr lang="en-US" sz="1200" dirty="0"/>
          </a:p>
        </p:txBody>
      </p:sp>
      <p:sp>
        <p:nvSpPr>
          <p:cNvPr id="9" name="Shape 7"/>
          <p:cNvSpPr/>
          <p:nvPr/>
        </p:nvSpPr>
        <p:spPr>
          <a:xfrm>
            <a:off x="640080" y="5148072"/>
            <a:ext cx="10911535" cy="1152144"/>
          </a:xfrm>
          <a:prstGeom prst="rect">
            <a:avLst/>
          </a:prstGeom>
          <a:solidFill>
            <a:srgbClr val="FBF0DA"/>
          </a:solidFill>
          <a:ln/>
        </p:spPr>
        <p:txBody>
          <a:bodyPr/>
          <a:lstStyle/>
          <a:p>
            <a:endParaRPr lang="en-NL"/>
          </a:p>
        </p:txBody>
      </p:sp>
      <p:sp>
        <p:nvSpPr>
          <p:cNvPr id="10" name="Shape 8"/>
          <p:cNvSpPr/>
          <p:nvPr/>
        </p:nvSpPr>
        <p:spPr>
          <a:xfrm>
            <a:off x="640080" y="5148072"/>
            <a:ext cx="64008" cy="1152144"/>
          </a:xfrm>
          <a:prstGeom prst="rect">
            <a:avLst/>
          </a:prstGeom>
          <a:solidFill>
            <a:srgbClr val="9C5A00"/>
          </a:solidFill>
          <a:ln/>
        </p:spPr>
        <p:txBody>
          <a:bodyPr/>
          <a:lstStyle/>
          <a:p>
            <a:endParaRPr lang="en-NL"/>
          </a:p>
        </p:txBody>
      </p:sp>
      <p:sp>
        <p:nvSpPr>
          <p:cNvPr id="11" name="Text 9"/>
          <p:cNvSpPr/>
          <p:nvPr/>
        </p:nvSpPr>
        <p:spPr>
          <a:xfrm>
            <a:off x="877824" y="5221224"/>
            <a:ext cx="10527487" cy="237744"/>
          </a:xfrm>
          <a:prstGeom prst="rect">
            <a:avLst/>
          </a:prstGeom>
          <a:noFill/>
          <a:ln/>
        </p:spPr>
        <p:txBody>
          <a:bodyPr wrap="square" rtlCol="0" anchor="ctr"/>
          <a:lstStyle/>
          <a:p>
            <a:pPr marL="0" indent="0">
              <a:buNone/>
            </a:pPr>
            <a:r>
              <a:rPr lang="en-US" sz="1050" b="1" kern="0" spc="150" dirty="0">
                <a:solidFill>
                  <a:srgbClr val="9C5A00"/>
                </a:solidFill>
                <a:latin typeface="Calibri" pitchFamily="34" charset="0"/>
                <a:ea typeface="Calibri" pitchFamily="34" charset="-122"/>
                <a:cs typeface="Calibri" pitchFamily="34" charset="-120"/>
              </a:rPr>
              <a:t>⚠  WATCH OUT (COMMON BLOCKERS)</a:t>
            </a:r>
            <a:endParaRPr lang="en-US" sz="1050" dirty="0"/>
          </a:p>
        </p:txBody>
      </p:sp>
      <p:sp>
        <p:nvSpPr>
          <p:cNvPr id="12" name="Text 10"/>
          <p:cNvSpPr/>
          <p:nvPr/>
        </p:nvSpPr>
        <p:spPr>
          <a:xfrm>
            <a:off x="877824" y="5477256"/>
            <a:ext cx="10527487" cy="694944"/>
          </a:xfrm>
          <a:prstGeom prst="rect">
            <a:avLst/>
          </a:prstGeom>
          <a:noFill/>
          <a:ln/>
        </p:spPr>
        <p:txBody>
          <a:bodyPr wrap="square" rtlCol="0" anchor="t"/>
          <a:lstStyle/>
          <a:p>
            <a:pPr marL="0" indent="0">
              <a:lnSpc>
                <a:spcPct val="112000"/>
              </a:lnSpc>
              <a:buNone/>
            </a:pPr>
            <a:r>
              <a:rPr lang="en-US" sz="1100" dirty="0">
                <a:solidFill>
                  <a:srgbClr val="243748"/>
                </a:solidFill>
                <a:latin typeface="Consolas" pitchFamily="34" charset="0"/>
                <a:ea typeface="Consolas" pitchFamily="34" charset="-122"/>
                <a:cs typeface="Consolas" pitchFamily="34" charset="-120"/>
              </a:rPr>
              <a:t>- tinytex downloads a full LaTeX distribution — needs internet and a few minutes.</a:t>
            </a:r>
            <a:endParaRPr lang="en-US" sz="1100" dirty="0"/>
          </a:p>
          <a:p>
            <a:pPr marL="0" indent="0">
              <a:lnSpc>
                <a:spcPct val="112000"/>
              </a:lnSpc>
              <a:buNone/>
            </a:pPr>
            <a:r>
              <a:rPr lang="en-US" sz="1100" dirty="0">
                <a:solidFill>
                  <a:srgbClr val="243748"/>
                </a:solidFill>
                <a:latin typeface="Consolas" pitchFamily="34" charset="0"/>
                <a:ea typeface="Consolas" pitchFamily="34" charset="-122"/>
                <a:cs typeface="Consolas" pitchFamily="34" charset="-120"/>
              </a:rPr>
              <a:t>- The manuscript needs the LaTeX engine above; the WEBSITE never does.</a:t>
            </a:r>
            <a:endParaRPr lang="en-US" sz="1100" dirty="0"/>
          </a:p>
          <a:p>
            <a:pPr marL="0" indent="0">
              <a:lnSpc>
                <a:spcPct val="112000"/>
              </a:lnSpc>
              <a:buNone/>
            </a:pPr>
            <a:r>
              <a:rPr lang="en-US" sz="1100" dirty="0">
                <a:solidFill>
                  <a:srgbClr val="243748"/>
                </a:solidFill>
                <a:latin typeface="Consolas" pitchFamily="34" charset="0"/>
                <a:ea typeface="Consolas" pitchFamily="34" charset="-122"/>
                <a:cs typeface="Consolas" pitchFamily="34" charset="-120"/>
              </a:rPr>
              <a:t>- Short on time? Skip this — we cover LaTeX + Overleaf properly on Day 3.</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G · WRAP-UP</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The day's usual suspects (and the fix)</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40</a:t>
            </a:r>
            <a:endParaRPr lang="en-US" sz="900" dirty="0"/>
          </a:p>
        </p:txBody>
      </p:sp>
      <p:sp>
        <p:nvSpPr>
          <p:cNvPr id="6" name="Shape 4"/>
          <p:cNvSpPr/>
          <p:nvPr/>
        </p:nvSpPr>
        <p:spPr>
          <a:xfrm>
            <a:off x="640080" y="1691640"/>
            <a:ext cx="10911535" cy="1876806"/>
          </a:xfrm>
          <a:prstGeom prst="rect">
            <a:avLst/>
          </a:prstGeom>
          <a:solidFill>
            <a:srgbClr val="F1F4F7"/>
          </a:solidFill>
          <a:ln/>
        </p:spPr>
        <p:txBody>
          <a:bodyPr/>
          <a:lstStyle/>
          <a:p>
            <a:endParaRPr lang="en-NL"/>
          </a:p>
        </p:txBody>
      </p:sp>
      <p:sp>
        <p:nvSpPr>
          <p:cNvPr id="7" name="Shape 5"/>
          <p:cNvSpPr/>
          <p:nvPr/>
        </p:nvSpPr>
        <p:spPr>
          <a:xfrm>
            <a:off x="640080" y="1691640"/>
            <a:ext cx="64008" cy="1876806"/>
          </a:xfrm>
          <a:prstGeom prst="rect">
            <a:avLst/>
          </a:prstGeom>
          <a:solidFill>
            <a:srgbClr val="0E7C7B"/>
          </a:solidFill>
          <a:ln/>
        </p:spPr>
        <p:txBody>
          <a:bodyPr/>
          <a:lstStyle/>
          <a:p>
            <a:endParaRPr lang="en-NL"/>
          </a:p>
        </p:txBody>
      </p:sp>
      <p:sp>
        <p:nvSpPr>
          <p:cNvPr id="8" name="Text 6"/>
          <p:cNvSpPr/>
          <p:nvPr/>
        </p:nvSpPr>
        <p:spPr>
          <a:xfrm>
            <a:off x="877824" y="1837944"/>
            <a:ext cx="10527487" cy="1584198"/>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"Git option greyed out"        → install Git (git-scm.com), restart RStudio</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"Authentication failed" on push→ use a Personal Access Token, not a password</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"Could not find function"      → package not loaded → did renv::restore() finish?</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"cannot open file ... raw/..." → you're in real mode; default is mock (do nothing)</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Website shows 404              → wait for the build; URL ends /renders/webpage/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"quarto: command not found"    → update RStudio / install from quarto.org</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A single page won't render     → render the whole reports/webpage folder</a:t>
            </a:r>
            <a:endParaRPr lang="en-US" sz="13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G · WRAP-UP</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Before you leave today</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41</a:t>
            </a:r>
            <a:endParaRPr lang="en-US" sz="900" dirty="0"/>
          </a:p>
        </p:txBody>
      </p:sp>
      <p:sp>
        <p:nvSpPr>
          <p:cNvPr id="6" name="Shape 4"/>
          <p:cNvSpPr/>
          <p:nvPr/>
        </p:nvSpPr>
        <p:spPr>
          <a:xfrm>
            <a:off x="640080" y="1691640"/>
            <a:ext cx="10911535" cy="2103120"/>
          </a:xfrm>
          <a:prstGeom prst="rect">
            <a:avLst/>
          </a:prstGeom>
          <a:solidFill>
            <a:srgbClr val="F1F4F7"/>
          </a:solidFill>
          <a:ln/>
        </p:spPr>
        <p:txBody>
          <a:bodyPr/>
          <a:lstStyle/>
          <a:p>
            <a:endParaRPr lang="en-NL"/>
          </a:p>
        </p:txBody>
      </p:sp>
      <p:sp>
        <p:nvSpPr>
          <p:cNvPr id="7" name="Shape 5"/>
          <p:cNvSpPr/>
          <p:nvPr/>
        </p:nvSpPr>
        <p:spPr>
          <a:xfrm>
            <a:off x="640080" y="1691640"/>
            <a:ext cx="64008" cy="2103120"/>
          </a:xfrm>
          <a:prstGeom prst="rect">
            <a:avLst/>
          </a:prstGeom>
          <a:solidFill>
            <a:srgbClr val="0E7C7B"/>
          </a:solidFill>
          <a:ln/>
        </p:spPr>
        <p:txBody>
          <a:bodyPr/>
          <a:lstStyle/>
          <a:p>
            <a:endParaRPr lang="en-NL"/>
          </a:p>
        </p:txBody>
      </p:sp>
      <p:sp>
        <p:nvSpPr>
          <p:cNvPr id="8" name="Text 6"/>
          <p:cNvSpPr/>
          <p:nvPr/>
        </p:nvSpPr>
        <p:spPr>
          <a:xfrm>
            <a:off x="877824" y="1837944"/>
            <a:ext cx="10527487" cy="1810512"/>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GitHub account created</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Repository forked to your account</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GitHub Pages on → your website loads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First commit made (README link points to your site)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R and RStudio installed</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Fork cloned and opened via the .Rproj</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renv::restore() finished successfully</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quarto render reports/webpage works locally</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PART G · WRAP-UP</a:t>
            </a:r>
            <a:endParaRPr lang="en-US" sz="1100" dirty="0"/>
          </a:p>
        </p:txBody>
      </p:sp>
      <p:sp>
        <p:nvSpPr>
          <p:cNvPr id="3" name="Text 1"/>
          <p:cNvSpPr/>
          <p:nvPr/>
        </p:nvSpPr>
        <p:spPr>
          <a:xfrm>
            <a:off x="640080" y="676656"/>
            <a:ext cx="10911535" cy="868680"/>
          </a:xfrm>
          <a:prstGeom prst="rect">
            <a:avLst/>
          </a:prstGeom>
          <a:noFill/>
          <a:ln/>
        </p:spPr>
        <p:txBody>
          <a:bodyPr wrap="square" rtlCol="0" anchor="t"/>
          <a:lstStyle/>
          <a:p>
            <a:pPr marL="0" indent="0">
              <a:buNone/>
            </a:pPr>
            <a:r>
              <a:rPr lang="en-US" sz="2900" b="1" dirty="0">
                <a:solidFill>
                  <a:srgbClr val="1C2B3A"/>
                </a:solidFill>
                <a:latin typeface="Georgia" pitchFamily="34" charset="0"/>
                <a:ea typeface="Georgia" pitchFamily="34" charset="-122"/>
                <a:cs typeface="Georgia" pitchFamily="34" charset="-120"/>
              </a:rPr>
              <a:t>Day 2 — analyse the data in R</a:t>
            </a:r>
            <a:endParaRPr lang="en-US" sz="2900" dirty="0"/>
          </a:p>
        </p:txBody>
      </p:sp>
      <p:sp>
        <p:nvSpPr>
          <p:cNvPr id="4" name="Text 2"/>
          <p:cNvSpPr/>
          <p:nvPr/>
        </p:nvSpPr>
        <p:spPr>
          <a:xfrm>
            <a:off x="640080" y="6473952"/>
            <a:ext cx="5486400" cy="274320"/>
          </a:xfrm>
          <a:prstGeom prst="rect">
            <a:avLst/>
          </a:prstGeom>
          <a:noFill/>
          <a:ln/>
        </p:spPr>
        <p:txBody>
          <a:bodyPr wrap="square" rtlCol="0" anchor="ctr"/>
          <a:lstStyle/>
          <a:p>
            <a:pPr marL="0" indent="0">
              <a:buNone/>
            </a:pPr>
            <a:r>
              <a:rPr lang="en-US" sz="900" dirty="0">
                <a:solidFill>
                  <a:srgbClr val="7C8A99"/>
                </a:solidFill>
                <a:latin typeface="Calibri" pitchFamily="34" charset="0"/>
                <a:ea typeface="Calibri" pitchFamily="34" charset="-122"/>
                <a:cs typeface="Calibri" pitchFamily="34" charset="-120"/>
              </a:rPr>
              <a:t>The Science Repository  ·  Day 1</a:t>
            </a:r>
            <a:endParaRPr lang="en-US" sz="900" dirty="0"/>
          </a:p>
        </p:txBody>
      </p:sp>
      <p:sp>
        <p:nvSpPr>
          <p:cNvPr id="5" name="Text 3"/>
          <p:cNvSpPr/>
          <p:nvPr/>
        </p:nvSpPr>
        <p:spPr>
          <a:xfrm>
            <a:off x="10637215" y="6473952"/>
            <a:ext cx="914400" cy="274320"/>
          </a:xfrm>
          <a:prstGeom prst="rect">
            <a:avLst/>
          </a:prstGeom>
          <a:noFill/>
          <a:ln/>
        </p:spPr>
        <p:txBody>
          <a:bodyPr wrap="square" rtlCol="0" anchor="ctr"/>
          <a:lstStyle/>
          <a:p>
            <a:pPr marL="0" indent="0" algn="r">
              <a:buNone/>
            </a:pPr>
            <a:r>
              <a:rPr lang="en-US" sz="900" dirty="0">
                <a:solidFill>
                  <a:srgbClr val="7C8A99"/>
                </a:solidFill>
                <a:latin typeface="Calibri" pitchFamily="34" charset="0"/>
                <a:ea typeface="Calibri" pitchFamily="34" charset="-122"/>
                <a:cs typeface="Calibri" pitchFamily="34" charset="-120"/>
              </a:rPr>
              <a:t>42</a:t>
            </a:r>
            <a:endParaRPr lang="en-US" sz="900" dirty="0"/>
          </a:p>
        </p:txBody>
      </p:sp>
      <p:sp>
        <p:nvSpPr>
          <p:cNvPr id="6" name="Shape 4"/>
          <p:cNvSpPr/>
          <p:nvPr/>
        </p:nvSpPr>
        <p:spPr>
          <a:xfrm>
            <a:off x="640080" y="1691640"/>
            <a:ext cx="10911535" cy="1424178"/>
          </a:xfrm>
          <a:prstGeom prst="rect">
            <a:avLst/>
          </a:prstGeom>
          <a:solidFill>
            <a:srgbClr val="F1F4F7"/>
          </a:solidFill>
          <a:ln/>
        </p:spPr>
        <p:txBody>
          <a:bodyPr/>
          <a:lstStyle/>
          <a:p>
            <a:endParaRPr lang="en-NL"/>
          </a:p>
        </p:txBody>
      </p:sp>
      <p:sp>
        <p:nvSpPr>
          <p:cNvPr id="7" name="Shape 5"/>
          <p:cNvSpPr/>
          <p:nvPr/>
        </p:nvSpPr>
        <p:spPr>
          <a:xfrm>
            <a:off x="640080" y="1691640"/>
            <a:ext cx="64008" cy="1424178"/>
          </a:xfrm>
          <a:prstGeom prst="rect">
            <a:avLst/>
          </a:prstGeom>
          <a:solidFill>
            <a:srgbClr val="0E7C7B"/>
          </a:solidFill>
          <a:ln/>
        </p:spPr>
        <p:txBody>
          <a:bodyPr/>
          <a:lstStyle/>
          <a:p>
            <a:endParaRPr lang="en-NL"/>
          </a:p>
        </p:txBody>
      </p:sp>
      <p:sp>
        <p:nvSpPr>
          <p:cNvPr id="8" name="Text 6"/>
          <p:cNvSpPr/>
          <p:nvPr/>
        </p:nvSpPr>
        <p:spPr>
          <a:xfrm>
            <a:off x="877824" y="1837944"/>
            <a:ext cx="10527487" cy="1131570"/>
          </a:xfrm>
          <a:prstGeom prst="rect">
            <a:avLst/>
          </a:prstGeom>
          <a:noFill/>
          <a:ln/>
        </p:spPr>
        <p:txBody>
          <a:bodyPr wrap="square" rtlCol="0" anchor="t"/>
          <a:lstStyle/>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With the scaffold in place, tomorrow we:</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work inside R/ and the report pages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import, clean, and inspect the data</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build descriptives, figures, and models</a:t>
            </a:r>
            <a:endParaRPr lang="en-US" sz="1350" dirty="0"/>
          </a:p>
          <a:p>
            <a:pPr marL="0" indent="0" algn="l">
              <a:lnSpc>
                <a:spcPct val="112000"/>
              </a:lnSpc>
              <a:buNone/>
            </a:pPr>
            <a:r>
              <a:rPr lang="en-US" sz="1350" dirty="0">
                <a:solidFill>
                  <a:srgbClr val="243748"/>
                </a:solidFill>
                <a:latin typeface="Consolas" pitchFamily="34" charset="0"/>
                <a:ea typeface="Consolas" pitchFamily="34" charset="-122"/>
                <a:cs typeface="Consolas" pitchFamily="34" charset="-120"/>
              </a:rPr>
              <a:t>  - use branches and merges to collaborate in pairs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7661</Words>
  <Application>Microsoft Macintosh PowerPoint</Application>
  <PresentationFormat>Widescreen</PresentationFormat>
  <Paragraphs>611</Paragraphs>
  <Slides>45</Slides>
  <Notes>45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 — Foundations &amp; Setup</dc:title>
  <dc:subject>PptxGenJS Presentation</dc:subject>
  <dc:creator>The Dataflow Company</dc:creator>
  <cp:lastModifiedBy>Maximilian Agostini</cp:lastModifiedBy>
  <cp:revision>2</cp:revision>
  <dcterms:created xsi:type="dcterms:W3CDTF">2026-05-31T15:11:53Z</dcterms:created>
  <dcterms:modified xsi:type="dcterms:W3CDTF">2026-05-31T15:23:41Z</dcterms:modified>
</cp:coreProperties>
</file>